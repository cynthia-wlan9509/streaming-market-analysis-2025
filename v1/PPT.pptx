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bookmarkIdSeed="2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36" r:id="rId2"/>
    <p:sldId id="258" r:id="rId3"/>
    <p:sldId id="259" r:id="rId4"/>
    <p:sldId id="418" r:id="rId5"/>
    <p:sldId id="454" r:id="rId6"/>
    <p:sldId id="440" r:id="rId7"/>
    <p:sldId id="462" r:id="rId8"/>
    <p:sldId id="442" r:id="rId9"/>
    <p:sldId id="456" r:id="rId10"/>
    <p:sldId id="457" r:id="rId11"/>
    <p:sldId id="460" r:id="rId12"/>
    <p:sldId id="458" r:id="rId13"/>
    <p:sldId id="459" r:id="rId14"/>
    <p:sldId id="461" r:id="rId15"/>
    <p:sldId id="449" r:id="rId16"/>
    <p:sldId id="356" r:id="rId17"/>
    <p:sldId id="364" r:id="rId18"/>
    <p:sldId id="455" r:id="rId19"/>
    <p:sldId id="45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85" userDrawn="1">
          <p15:clr>
            <a:srgbClr val="A4A3A4"/>
          </p15:clr>
        </p15:guide>
        <p15:guide id="4" pos="5473" userDrawn="1">
          <p15:clr>
            <a:srgbClr val="A4A3A4"/>
          </p15:clr>
        </p15:guide>
        <p15:guide id="5" pos="55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CD3636"/>
    <a:srgbClr val="D53838"/>
    <a:srgbClr val="C24614"/>
    <a:srgbClr val="D73407"/>
    <a:srgbClr val="FF3300"/>
    <a:srgbClr val="FFFFFF"/>
    <a:srgbClr val="FEFEFF"/>
    <a:srgbClr val="5B9BD5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83418" autoAdjust="0"/>
  </p:normalViewPr>
  <p:slideViewPr>
    <p:cSldViewPr showGuides="1">
      <p:cViewPr varScale="1">
        <p:scale>
          <a:sx n="94" d="100"/>
          <a:sy n="94" d="100"/>
        </p:scale>
        <p:origin x="500" y="-136"/>
      </p:cViewPr>
      <p:guideLst>
        <p:guide orient="horz" pos="799"/>
        <p:guide pos="3885"/>
        <p:guide pos="5473"/>
        <p:guide pos="556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F10A60E-F532-44AE-343F-C9557EA714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016250-E337-F1CD-CEFD-188A3A8194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D23F3-B5E9-4FA3-BE43-1F2EFD090253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8DEC7A-7E44-7E21-B872-14CBB7AFA6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19DDEC-477E-7BA8-ACA4-75D8051A23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9690-D92A-4357-8B7D-9A9D159414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6399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20B90-CE44-44CC-817D-E50795309AF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38938-D0F8-493B-86E5-92BF2F7688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128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085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0335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F38B-549A-E18B-E379-B654F689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BA6A0D-D68A-F9C3-F301-B46176178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91EBD1-5CD6-E233-0BE1-8A5C5FBF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4912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A3DE-D2AC-EA70-AFBB-04E6728ED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1B0DF7-D53B-8710-932C-68D5A2718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08C30C-C60F-AED9-CE06-ABD9F7976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536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9F2C-5749-74B3-0BD5-FFD0F9AE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4430FA-39EE-116A-391B-8FE62FE9C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3DDE75-6A41-1422-E002-7200F287C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4531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DB0F-FA89-B988-65D8-4F3B0072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B3D1D9-EDBC-66A1-0226-E33C06FA6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3E0BC7-6A23-E984-8301-4D589A814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762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A0D50-B693-9F9A-156F-7B502EF7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2F8814-8AC5-DF8A-03F5-C00454B8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17871E-2A09-9744-E05B-DF1DE44AC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052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F729-8B78-9122-BDDD-A27C4372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178BAC-93CA-D0C0-163E-2FB0C43F3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C7817-89EC-1C6D-CEEA-B3545A90E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3626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57BE-56A4-1758-7724-F5E46045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C6A2E8-12C7-ECAA-62CA-0DC7C586B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D2AE6F-3E9A-2B25-715B-FB31E26CA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091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3779-B26E-F2B3-AFCC-3CCF3FAC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FC2ED-6D45-4BA9-B7B7-9D7286B94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0D656A-A9E1-7718-CBD7-C62E3107B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359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9EFD-44A2-5713-0D7D-5212A5E4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D021A-73D8-6FD5-F233-F77A6F07F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810E32-8871-5CFF-1685-BF4D7FEB6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036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742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F02A-EE34-036D-1C0A-F247A8E2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914438-C6E2-6DF6-400D-EC11B80F0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D6E0B-B15B-C3B6-0A5A-AF6CC6C3D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540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211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9E8F06E-5B24-58F4-8246-52921A17F05B}"/>
              </a:ext>
            </a:extLst>
          </p:cNvPr>
          <p:cNvGrpSpPr/>
          <p:nvPr userDrawn="1"/>
        </p:nvGrpSpPr>
        <p:grpSpPr>
          <a:xfrm>
            <a:off x="348613" y="336225"/>
            <a:ext cx="11494775" cy="6185551"/>
            <a:chOff x="285745" y="676570"/>
            <a:chExt cx="11128663" cy="5539461"/>
          </a:xfrm>
        </p:grpSpPr>
        <p:sp>
          <p:nvSpPr>
            <p:cNvPr id="14" name="矩形 7">
              <a:extLst>
                <a:ext uri="{FF2B5EF4-FFF2-40B4-BE49-F238E27FC236}">
                  <a16:creationId xmlns:a16="http://schemas.microsoft.com/office/drawing/2014/main" id="{097D31BF-7D44-82C5-9C43-65C10742E0E3}"/>
                </a:ext>
              </a:extLst>
            </p:cNvPr>
            <p:cNvSpPr/>
            <p:nvPr userDrawn="1"/>
          </p:nvSpPr>
          <p:spPr>
            <a:xfrm>
              <a:off x="285745" y="711171"/>
              <a:ext cx="11128663" cy="5504860"/>
            </a:xfrm>
            <a:prstGeom prst="round2SameRect">
              <a:avLst>
                <a:gd name="adj1" fmla="val 2897"/>
                <a:gd name="adj2" fmla="val 0"/>
              </a:avLst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190500" dir="13500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汉仪旗黑-55简" panose="00020600040101010101" pitchFamily="18" charset="-122"/>
              </a:endParaRPr>
            </a:p>
          </p:txBody>
        </p:sp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763B7EDC-6423-C09D-ED1F-F13322AC05F0}"/>
                </a:ext>
              </a:extLst>
            </p:cNvPr>
            <p:cNvSpPr/>
            <p:nvPr userDrawn="1"/>
          </p:nvSpPr>
          <p:spPr>
            <a:xfrm>
              <a:off x="285745" y="676570"/>
              <a:ext cx="11128663" cy="5504860"/>
            </a:xfrm>
            <a:prstGeom prst="round2SameRect">
              <a:avLst>
                <a:gd name="adj1" fmla="val 3495"/>
                <a:gd name="adj2" fmla="val 0"/>
              </a:avLst>
            </a:prstGeom>
            <a:solidFill>
              <a:srgbClr val="EEF2F9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27000" dir="2700000" algn="tl" rotWithShape="0">
                <a:srgbClr val="4472C4">
                  <a:lumMod val="40000"/>
                  <a:lumOff val="60000"/>
                  <a:alpha val="8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EEF2F9"/>
                </a:solidFill>
                <a:effectLst/>
                <a:uLnTx/>
                <a:uFillTx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EE98BE7F-7423-0406-88A2-F93E9C5FCF8A}"/>
              </a:ext>
            </a:extLst>
          </p:cNvPr>
          <p:cNvSpPr/>
          <p:nvPr userDrawn="1"/>
        </p:nvSpPr>
        <p:spPr>
          <a:xfrm flipH="1" flipV="1">
            <a:off x="219075" y="1513406"/>
            <a:ext cx="11753850" cy="2182293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4472C4">
                  <a:lumMod val="75000"/>
                </a:srgbClr>
              </a:gs>
              <a:gs pos="100000">
                <a:srgbClr val="355FA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0D609F0-E201-4A40-01FB-737F475A3029}"/>
              </a:ext>
            </a:extLst>
          </p:cNvPr>
          <p:cNvSpPr/>
          <p:nvPr userDrawn="1"/>
        </p:nvSpPr>
        <p:spPr>
          <a:xfrm flipH="1">
            <a:off x="11843387" y="1419860"/>
            <a:ext cx="129538" cy="93546"/>
          </a:xfrm>
          <a:prstGeom prst="triangle">
            <a:avLst>
              <a:gd name="adj" fmla="val 10000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CF519C4A-F5A1-4525-045D-8357B2FDEAB3}"/>
              </a:ext>
            </a:extLst>
          </p:cNvPr>
          <p:cNvSpPr/>
          <p:nvPr userDrawn="1"/>
        </p:nvSpPr>
        <p:spPr>
          <a:xfrm flipH="1" flipV="1">
            <a:off x="11843387" y="3692703"/>
            <a:ext cx="129538" cy="93546"/>
          </a:xfrm>
          <a:prstGeom prst="triangle">
            <a:avLst>
              <a:gd name="adj" fmla="val 10000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D9E8D75F-44AC-6564-0AD2-8973E1AF4D77}"/>
              </a:ext>
            </a:extLst>
          </p:cNvPr>
          <p:cNvSpPr/>
          <p:nvPr userDrawn="1"/>
        </p:nvSpPr>
        <p:spPr>
          <a:xfrm>
            <a:off x="219075" y="1419860"/>
            <a:ext cx="129538" cy="93546"/>
          </a:xfrm>
          <a:prstGeom prst="triangle">
            <a:avLst>
              <a:gd name="adj" fmla="val 10000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8641AB9-3B81-D280-F5BA-19FA32265CED}"/>
              </a:ext>
            </a:extLst>
          </p:cNvPr>
          <p:cNvSpPr/>
          <p:nvPr userDrawn="1"/>
        </p:nvSpPr>
        <p:spPr>
          <a:xfrm flipV="1">
            <a:off x="219074" y="3692703"/>
            <a:ext cx="129538" cy="93546"/>
          </a:xfrm>
          <a:prstGeom prst="triangle">
            <a:avLst>
              <a:gd name="adj" fmla="val 100000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71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7">
            <a:extLst>
              <a:ext uri="{FF2B5EF4-FFF2-40B4-BE49-F238E27FC236}">
                <a16:creationId xmlns:a16="http://schemas.microsoft.com/office/drawing/2014/main" id="{BB2A720F-87EE-BE78-4474-23A5D7653458}"/>
              </a:ext>
            </a:extLst>
          </p:cNvPr>
          <p:cNvSpPr/>
          <p:nvPr userDrawn="1"/>
        </p:nvSpPr>
        <p:spPr>
          <a:xfrm>
            <a:off x="506725" y="578960"/>
            <a:ext cx="11128663" cy="5504860"/>
          </a:xfrm>
          <a:prstGeom prst="round2SameRect">
            <a:avLst>
              <a:gd name="adj1" fmla="val 5389"/>
              <a:gd name="adj2" fmla="val 0"/>
            </a:avLst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4EDB277-2048-77E9-9BF7-6E71EB2403F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" name="副标题 2">
            <a:extLst>
              <a:ext uri="{FF2B5EF4-FFF2-40B4-BE49-F238E27FC236}">
                <a16:creationId xmlns:a16="http://schemas.microsoft.com/office/drawing/2014/main" id="{4802F011-B289-448B-7A01-6F0F6187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B3424823-573B-DD7B-0D2C-8C56F83280EC}"/>
              </a:ext>
            </a:extLst>
          </p:cNvPr>
          <p:cNvSpPr/>
          <p:nvPr userDrawn="1"/>
        </p:nvSpPr>
        <p:spPr>
          <a:xfrm>
            <a:off x="498764" y="529474"/>
            <a:ext cx="11128663" cy="5435658"/>
          </a:xfrm>
          <a:prstGeom prst="round2SameRect">
            <a:avLst>
              <a:gd name="adj1" fmla="val 5037"/>
              <a:gd name="adj2" fmla="val 0"/>
            </a:avLst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381000" dist="127000" dir="2700000" algn="tl" rotWithShape="0">
              <a:srgbClr val="4472C4">
                <a:lumMod val="40000"/>
                <a:lumOff val="60000"/>
                <a:alpha val="8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EEF2F9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17" name="矩形: 圆顶角 16">
            <a:extLst>
              <a:ext uri="{FF2B5EF4-FFF2-40B4-BE49-F238E27FC236}">
                <a16:creationId xmlns:a16="http://schemas.microsoft.com/office/drawing/2014/main" id="{E77A2568-D938-CFDE-1C18-42F370225EC0}"/>
              </a:ext>
            </a:extLst>
          </p:cNvPr>
          <p:cNvSpPr/>
          <p:nvPr userDrawn="1"/>
        </p:nvSpPr>
        <p:spPr>
          <a:xfrm flipH="1" flipV="1">
            <a:off x="482843" y="5979120"/>
            <a:ext cx="11144584" cy="10469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472C4">
                  <a:lumMod val="75000"/>
                </a:srgbClr>
              </a:gs>
              <a:gs pos="100000">
                <a:srgbClr val="355FA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741938-28B4-494B-B9E6-1EF27A09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C4DEF-4C6B-49E9-B22E-6D19B259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038B-1D06-4396-9695-6615E227CE44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EB532-F764-4D99-89D7-ADE9B50F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787B0-CF20-454E-A946-9D11CE4A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00A5BCF0-1A84-A1CE-B9CA-06F54AC703B1}"/>
              </a:ext>
            </a:extLst>
          </p:cNvPr>
          <p:cNvSpPr/>
          <p:nvPr userDrawn="1"/>
        </p:nvSpPr>
        <p:spPr>
          <a:xfrm flipV="1">
            <a:off x="790341" y="429591"/>
            <a:ext cx="1522734" cy="69009"/>
          </a:xfrm>
          <a:custGeom>
            <a:avLst/>
            <a:gdLst>
              <a:gd name="connsiteX0" fmla="*/ 1469984 w 1522734"/>
              <a:gd name="connsiteY0" fmla="*/ 69009 h 69009"/>
              <a:gd name="connsiteX1" fmla="*/ 1522734 w 1522734"/>
              <a:gd name="connsiteY1" fmla="*/ 16259 h 69009"/>
              <a:gd name="connsiteX2" fmla="*/ 1522734 w 1522734"/>
              <a:gd name="connsiteY2" fmla="*/ 0 h 69009"/>
              <a:gd name="connsiteX3" fmla="*/ 0 w 1522734"/>
              <a:gd name="connsiteY3" fmla="*/ 0 h 69009"/>
              <a:gd name="connsiteX4" fmla="*/ 0 w 1522734"/>
              <a:gd name="connsiteY4" fmla="*/ 16258 h 69009"/>
              <a:gd name="connsiteX5" fmla="*/ 52750 w 1522734"/>
              <a:gd name="connsiteY5" fmla="*/ 69008 h 6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734" h="69009">
                <a:moveTo>
                  <a:pt x="1469984" y="69009"/>
                </a:moveTo>
                <a:cubicBezTo>
                  <a:pt x="1499117" y="69009"/>
                  <a:pt x="1522734" y="45392"/>
                  <a:pt x="1522734" y="16259"/>
                </a:cubicBezTo>
                <a:lnTo>
                  <a:pt x="1522734" y="0"/>
                </a:lnTo>
                <a:lnTo>
                  <a:pt x="0" y="0"/>
                </a:lnTo>
                <a:lnTo>
                  <a:pt x="0" y="16258"/>
                </a:lnTo>
                <a:cubicBezTo>
                  <a:pt x="0" y="45391"/>
                  <a:pt x="23617" y="69008"/>
                  <a:pt x="52750" y="69008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7F3E4775-D658-4761-B20A-FDB6A5392701}"/>
              </a:ext>
            </a:extLst>
          </p:cNvPr>
          <p:cNvSpPr/>
          <p:nvPr userDrawn="1"/>
        </p:nvSpPr>
        <p:spPr>
          <a:xfrm>
            <a:off x="837013" y="429591"/>
            <a:ext cx="1429390" cy="1621690"/>
          </a:xfrm>
          <a:prstGeom prst="round2Same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4472C4">
                  <a:lumMod val="75000"/>
                </a:srgbClr>
              </a:gs>
              <a:gs pos="100000">
                <a:srgbClr val="355FA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127026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C4DEF-4C6B-49E9-B22E-6D19B259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77F6-41FA-4C63-B5E0-224F14A8B33C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EB532-F764-4D99-89D7-ADE9B50F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787B0-CF20-454E-A946-9D11CE4A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A213176C-E25D-D020-A646-BD4E2B3E8B0F}"/>
              </a:ext>
            </a:extLst>
          </p:cNvPr>
          <p:cNvSpPr/>
          <p:nvPr userDrawn="1"/>
        </p:nvSpPr>
        <p:spPr>
          <a:xfrm>
            <a:off x="506725" y="578960"/>
            <a:ext cx="11128663" cy="5504860"/>
          </a:xfrm>
          <a:prstGeom prst="round2SameRect">
            <a:avLst>
              <a:gd name="adj1" fmla="val 5389"/>
              <a:gd name="adj2" fmla="val 0"/>
            </a:avLst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14" name="矩形 8">
            <a:extLst>
              <a:ext uri="{FF2B5EF4-FFF2-40B4-BE49-F238E27FC236}">
                <a16:creationId xmlns:a16="http://schemas.microsoft.com/office/drawing/2014/main" id="{1F3818B6-F803-670F-CADF-1586DE147C38}"/>
              </a:ext>
            </a:extLst>
          </p:cNvPr>
          <p:cNvSpPr/>
          <p:nvPr userDrawn="1"/>
        </p:nvSpPr>
        <p:spPr>
          <a:xfrm>
            <a:off x="498764" y="529474"/>
            <a:ext cx="11128663" cy="5435658"/>
          </a:xfrm>
          <a:prstGeom prst="round2SameRect">
            <a:avLst>
              <a:gd name="adj1" fmla="val 5037"/>
              <a:gd name="adj2" fmla="val 0"/>
            </a:avLst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381000" dist="127000" dir="2700000" algn="tl" rotWithShape="0">
              <a:srgbClr val="4472C4">
                <a:lumMod val="40000"/>
                <a:lumOff val="60000"/>
                <a:alpha val="8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EEF2F9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FE65E9CA-8FA5-9EB3-4F14-778C21A2D042}"/>
              </a:ext>
            </a:extLst>
          </p:cNvPr>
          <p:cNvSpPr/>
          <p:nvPr userDrawn="1"/>
        </p:nvSpPr>
        <p:spPr>
          <a:xfrm flipH="1" flipV="1">
            <a:off x="482843" y="5979120"/>
            <a:ext cx="11144584" cy="10469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472C4">
                  <a:lumMod val="75000"/>
                </a:srgbClr>
              </a:gs>
              <a:gs pos="100000">
                <a:srgbClr val="355FA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9896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8ADCB-8CCB-4883-A0A9-A3E207EE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B153B9-62A7-43B9-B2AD-2403A33F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76892-DECF-4566-8C4E-948228DC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59B89-518C-4F68-A556-3C5DDD798AA4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1FCE75-A23B-4266-8148-8F2558E6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3A13B0-7EC4-4DD0-BA24-E54C1AFE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0DC544-C25A-4355-91F9-97892FFD0AD7}"/>
              </a:ext>
            </a:extLst>
          </p:cNvPr>
          <p:cNvSpPr/>
          <p:nvPr/>
        </p:nvSpPr>
        <p:spPr>
          <a:xfrm>
            <a:off x="174395" y="777787"/>
            <a:ext cx="11880445" cy="5950673"/>
          </a:xfrm>
          <a:prstGeom prst="rect">
            <a:avLst/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33CD88-E453-45D8-822E-4EAE131C5E17}"/>
              </a:ext>
            </a:extLst>
          </p:cNvPr>
          <p:cNvSpPr/>
          <p:nvPr/>
        </p:nvSpPr>
        <p:spPr>
          <a:xfrm>
            <a:off x="174395" y="777240"/>
            <a:ext cx="11880445" cy="595067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381000" dist="127000" dir="2700000" algn="tl" rotWithShape="0">
              <a:srgbClr val="4472C4">
                <a:lumMod val="40000"/>
                <a:lumOff val="60000"/>
                <a:alpha val="8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EEF2F9"/>
              </a:solidFill>
              <a:effectLst/>
              <a:uLnTx/>
              <a:uFillTx/>
              <a:sym typeface="汉仪旗黑-55简" panose="00020600040101010101" pitchFamily="18" charset="-122"/>
            </a:endParaRPr>
          </a:p>
        </p:txBody>
      </p:sp>
      <p:sp>
        <p:nvSpPr>
          <p:cNvPr id="18" name="矩形: 圆顶角 17">
            <a:extLst>
              <a:ext uri="{FF2B5EF4-FFF2-40B4-BE49-F238E27FC236}">
                <a16:creationId xmlns:a16="http://schemas.microsoft.com/office/drawing/2014/main" id="{5FE8358C-EFC4-43D4-ACE6-37B35F8006DD}"/>
              </a:ext>
            </a:extLst>
          </p:cNvPr>
          <p:cNvSpPr/>
          <p:nvPr userDrawn="1"/>
        </p:nvSpPr>
        <p:spPr>
          <a:xfrm>
            <a:off x="163830" y="734856"/>
            <a:ext cx="11894820" cy="4571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472C4">
                  <a:lumMod val="75000"/>
                </a:srgbClr>
              </a:gs>
              <a:gs pos="100000">
                <a:srgbClr val="355FA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4472C4">
                <a:lumMod val="75000"/>
                <a:alpha val="1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89487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54983-79B4-4951-881F-ECCA9F3B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B921B-6574-4CAB-80FD-1CB3A5891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B790B7-0482-4BC6-8871-A1BDD4838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DD309C-1869-41CB-96F3-1E71B066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9B719-B1A1-4A95-9E31-044D8CC3D056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6A445C-F558-4B50-ADCE-BAEAE6EA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050041-D564-4B84-8F90-BEF8BC59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96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301B3-9B1A-4FC6-B8AF-F223609C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9CF1A3-E5CE-496C-99D3-8912ED0FF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24347F-83F1-4C42-9856-394A47BD4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7EBBF5-1F70-4139-9E66-E1D690755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A55461-9BAF-46D8-9922-10E7E9232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E11AAD-681E-4EEF-9AA8-39540CC9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42541-A608-4DD9-BC7B-5817B5CD06C9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446506-38FA-4F02-90F3-BAA9BBAF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5EE0B3-F2A8-42D6-8A98-CB0E45E1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488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F8A6-DB45-4742-95EA-FC90F6BFF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065513-4431-4CDE-9546-54CF7508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A934A-46E3-4331-9614-B79920C79ED8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83659C-704B-40BE-8826-1837C149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6E2D3A-45F9-418E-B407-55ABBB58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2266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B31DEC-6FAA-4214-B14D-95BB801D4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011C-A48C-4B17-B38E-EDDDA75C0954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9ADC95-356E-4EF9-AE1C-125D0AA2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186E6F-3E60-4515-BF11-3F8D6249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81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E776B-C5AE-4B2B-9F45-F77B9C6A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33186F-BD86-460D-B56A-DA1535F8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7663FF-1E98-4075-9F2B-CE3A24665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BEEEF6-326C-40AD-901A-BA71F620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BBE3-0DA1-40D6-BFF5-CAFF4A781CFC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2C990-AC43-4003-9CFF-6CFAAFE2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612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BFB16-1609-40CE-875F-7B0B81EC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4F6857-681A-42D8-90A8-F2C689B98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0A70E3-2A78-447F-BDAD-67F0C3DA9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57205-E637-43D9-917A-E3B15346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993CC-BF2C-4DB1-9630-DA63C945CDBB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E09062-F69F-429D-A654-89F4B918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B88835-C01C-4199-996B-E581D8F7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738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192B9-8C61-4FB7-94F4-84A6D84D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873AE6-0CD4-47F7-AE83-EBDD73946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5AF8C-6D13-4B79-8ECC-B99BFC48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A85C-1486-411D-ADA7-1653EC636293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2B8E2-B5B4-4C80-8EF1-29AF8A94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629CC4-BC30-48E9-BBD5-9BA8906F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23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CC53D2-2CF7-4BB9-8AB1-95298453F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7C56F-ECBF-4E86-817A-AD79575A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EFA72-BFAC-4CD9-8F0F-D38D694C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59A01-F77F-4314-AEDF-8DCCC1FE4570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A0ACF-3F0C-4BD6-A01A-1E466D32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9B6271-0657-4C31-8410-9A86C8FD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686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07744C-F2BF-47C9-85C9-714E1B46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C4DB0-0064-44C9-A056-D02A85B19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2FC4A-F9A4-4762-A1B1-E059DCB58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4224-797F-4F6A-B5EF-E887DFCAA3D4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90EAE-5AF2-4C7B-BA5C-6C9503756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A7A57-80E0-4816-A4CA-F5F9F0C74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92F4C-09FE-44CE-ADAB-D664B2077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4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nao5/streamers-statistiqu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../../../../../../Desktop/Group_Project/Dataset_streamers_stats.csv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21F8DF-FA5B-4DF7-A451-B09DFAACD5FC}"/>
              </a:ext>
            </a:extLst>
          </p:cNvPr>
          <p:cNvSpPr txBox="1"/>
          <p:nvPr/>
        </p:nvSpPr>
        <p:spPr>
          <a:xfrm>
            <a:off x="901941" y="1728586"/>
            <a:ext cx="10530993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5400" dirty="0"/>
              <a:t>Data Analysis &amp; Decision Making for Streaming Business</a:t>
            </a:r>
            <a:endParaRPr lang="zh-CN" altLang="en-US" sz="5400" b="1" dirty="0">
              <a:solidFill>
                <a:schemeClr val="bg1"/>
              </a:solidFill>
              <a:effectLst>
                <a:outerShdw blurRad="12700" dist="12700" dir="2700000" algn="tl">
                  <a:srgbClr val="000000">
                    <a:alpha val="79000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E3E0D877-2D63-65C7-1DA2-F6442C93E2F9}"/>
              </a:ext>
            </a:extLst>
          </p:cNvPr>
          <p:cNvGrpSpPr/>
          <p:nvPr/>
        </p:nvGrpSpPr>
        <p:grpSpPr>
          <a:xfrm flipH="1">
            <a:off x="11375967" y="5998463"/>
            <a:ext cx="275432" cy="199853"/>
            <a:chOff x="400050" y="466218"/>
            <a:chExt cx="956310" cy="411892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E898903-2517-D9B7-6926-E5398FEAB9BF}"/>
                </a:ext>
              </a:extLst>
            </p:cNvPr>
            <p:cNvCxnSpPr/>
            <p:nvPr/>
          </p:nvCxnSpPr>
          <p:spPr>
            <a:xfrm>
              <a:off x="411480" y="466218"/>
              <a:ext cx="94488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9F7BFB82-076F-4ADD-0A7A-7D0898EF810D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4" y="672164"/>
              <a:ext cx="70176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D5256BF-0529-EAF7-6139-E4BFF43ACD39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" y="878110"/>
              <a:ext cx="444001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802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783BC5D5-B90F-4DC7-A0E6-F5C826D286AE}"/>
              </a:ext>
            </a:extLst>
          </p:cNvPr>
          <p:cNvSpPr txBox="1"/>
          <p:nvPr/>
        </p:nvSpPr>
        <p:spPr>
          <a:xfrm>
            <a:off x="695400" y="607273"/>
            <a:ext cx="17281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0FE88D3-6458-5D3F-E12F-64F68B37308F}"/>
              </a:ext>
            </a:extLst>
          </p:cNvPr>
          <p:cNvGrpSpPr/>
          <p:nvPr/>
        </p:nvGrpSpPr>
        <p:grpSpPr>
          <a:xfrm>
            <a:off x="3192250" y="1350555"/>
            <a:ext cx="7080213" cy="1118766"/>
            <a:chOff x="2605927" y="2644254"/>
            <a:chExt cx="7245419" cy="1319303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5B34483-C7FE-9065-567D-82E0C072B41E}"/>
                </a:ext>
              </a:extLst>
            </p:cNvPr>
            <p:cNvGrpSpPr/>
            <p:nvPr/>
          </p:nvGrpSpPr>
          <p:grpSpPr>
            <a:xfrm>
              <a:off x="2605927" y="2644254"/>
              <a:ext cx="7245419" cy="1319303"/>
              <a:chOff x="2605927" y="2633740"/>
              <a:chExt cx="5776190" cy="1051774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C134CAC-4832-4604-AD7B-191836106928}"/>
                  </a:ext>
                </a:extLst>
              </p:cNvPr>
              <p:cNvSpPr txBox="1"/>
              <p:nvPr/>
            </p:nvSpPr>
            <p:spPr>
              <a:xfrm>
                <a:off x="3271833" y="2672801"/>
                <a:ext cx="5110284" cy="1012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altLang="zh-CN" sz="3200" b="1" spc="300" dirty="0">
                    <a:solidFill>
                      <a:srgbClr val="31589D"/>
                    </a:solidFill>
                    <a:cs typeface="+mn-ea"/>
                    <a:sym typeface="+mn-lt"/>
                  </a:rPr>
                  <a:t>Introduction &amp; Objectives</a:t>
                </a:r>
                <a:endParaRPr lang="zh-CN" altLang="en-US" sz="3200" b="1" spc="300" dirty="0">
                  <a:solidFill>
                    <a:srgbClr val="31589D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540DA5A9-9C59-475B-B3B9-52E141F80B8E}"/>
                  </a:ext>
                </a:extLst>
              </p:cNvPr>
              <p:cNvGrpSpPr/>
              <p:nvPr/>
            </p:nvGrpSpPr>
            <p:grpSpPr>
              <a:xfrm>
                <a:off x="2605927" y="2633740"/>
                <a:ext cx="558566" cy="558566"/>
                <a:chOff x="2322171" y="1450504"/>
                <a:chExt cx="558566" cy="558566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866AE84B-2506-45B3-AA3A-4B3A04E8D49F}"/>
                    </a:ext>
                  </a:extLst>
                </p:cNvPr>
                <p:cNvSpPr/>
                <p:nvPr/>
              </p:nvSpPr>
              <p:spPr>
                <a:xfrm>
                  <a:off x="2322171" y="1450504"/>
                  <a:ext cx="558566" cy="5585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4472C4">
                        <a:lumMod val="75000"/>
                      </a:srgbClr>
                    </a:gs>
                    <a:gs pos="100000">
                      <a:srgbClr val="355FAB"/>
                    </a:gs>
                  </a:gsLst>
                  <a:lin ang="0" scaled="1"/>
                  <a:tileRect/>
                </a:gradFill>
                <a:ln w="38100" cap="flat" cmpd="sng" algn="ctr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6200000" scaled="1"/>
                    <a:tileRect/>
                  </a:gradFill>
                  <a:prstDash val="solid"/>
                  <a:miter lim="800000"/>
                </a:ln>
                <a:effectLst>
                  <a:outerShdw blurRad="177800" dist="254000" dir="2700000" algn="tl" rotWithShape="0">
                    <a:srgbClr val="4472C4">
                      <a:lumMod val="75000"/>
                      <a:alpha val="16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DCB6B95-9DCB-40DB-86D4-D8B573F76DF6}"/>
                    </a:ext>
                  </a:extLst>
                </p:cNvPr>
                <p:cNvSpPr txBox="1"/>
                <p:nvPr/>
              </p:nvSpPr>
              <p:spPr>
                <a:xfrm>
                  <a:off x="2375234" y="1468896"/>
                  <a:ext cx="440976" cy="5208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altLang="zh-CN" sz="30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1</a:t>
                  </a:r>
                  <a:endParaRPr lang="zh-CN" altLang="en-US" sz="3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FD3DB02-4F42-00B5-6459-BF5B51FD9A80}"/>
                </a:ext>
              </a:extLst>
            </p:cNvPr>
            <p:cNvCxnSpPr>
              <a:cxnSpLocks/>
            </p:cNvCxnSpPr>
            <p:nvPr/>
          </p:nvCxnSpPr>
          <p:spPr>
            <a:xfrm>
              <a:off x="3293827" y="3397962"/>
              <a:ext cx="5995002" cy="0"/>
            </a:xfrm>
            <a:prstGeom prst="line">
              <a:avLst/>
            </a:prstGeom>
            <a:ln>
              <a:solidFill>
                <a:srgbClr val="31589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FF096043-9D1E-C14A-0211-20A39C03D3B5}"/>
              </a:ext>
            </a:extLst>
          </p:cNvPr>
          <p:cNvGrpSpPr/>
          <p:nvPr/>
        </p:nvGrpSpPr>
        <p:grpSpPr>
          <a:xfrm>
            <a:off x="11065604" y="6414090"/>
            <a:ext cx="439555" cy="175780"/>
            <a:chOff x="8478982" y="1145091"/>
            <a:chExt cx="647595" cy="258976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46972B36-1347-1C38-8543-1B7AF81D80D0}"/>
                </a:ext>
              </a:extLst>
            </p:cNvPr>
            <p:cNvGrpSpPr/>
            <p:nvPr/>
          </p:nvGrpSpPr>
          <p:grpSpPr>
            <a:xfrm flipH="1">
              <a:off x="8478982" y="1145092"/>
              <a:ext cx="258975" cy="258975"/>
              <a:chOff x="8478982" y="1145092"/>
              <a:chExt cx="258975" cy="258975"/>
            </a:xfrm>
          </p:grpSpPr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CEFFF009-5150-81B3-D2EC-EAE454A76136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8C7BB11C-F578-F800-5635-7ABF46A4F196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BA9FC623-176D-5483-819A-912950A05536}"/>
                </a:ext>
              </a:extLst>
            </p:cNvPr>
            <p:cNvGrpSpPr/>
            <p:nvPr/>
          </p:nvGrpSpPr>
          <p:grpSpPr>
            <a:xfrm>
              <a:off x="8867602" y="1145091"/>
              <a:ext cx="258975" cy="258975"/>
              <a:chOff x="8478982" y="1145092"/>
              <a:chExt cx="258975" cy="258975"/>
            </a:xfrm>
          </p:grpSpPr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CE62D12E-522F-136A-EC24-3EB339D92669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rgbClr val="3158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FCEEB7C0-D6C6-BC8E-D219-A52DA7ED1BCD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F4D79E1-76C6-CEDA-59E1-2A810A3BCE32}"/>
              </a:ext>
            </a:extLst>
          </p:cNvPr>
          <p:cNvGrpSpPr/>
          <p:nvPr/>
        </p:nvGrpSpPr>
        <p:grpSpPr>
          <a:xfrm>
            <a:off x="3219272" y="2490877"/>
            <a:ext cx="5667096" cy="639138"/>
            <a:chOff x="2605927" y="2644259"/>
            <a:chExt cx="6682902" cy="753703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094E882-68B6-6747-C71C-F58A5A5F955C}"/>
                </a:ext>
              </a:extLst>
            </p:cNvPr>
            <p:cNvGrpSpPr/>
            <p:nvPr/>
          </p:nvGrpSpPr>
          <p:grpSpPr>
            <a:xfrm>
              <a:off x="2605927" y="2644259"/>
              <a:ext cx="6482165" cy="738592"/>
              <a:chOff x="2605927" y="2633740"/>
              <a:chExt cx="5167709" cy="588819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B1FC783-E02F-9E33-DC4C-5266A872B1F4}"/>
                  </a:ext>
                </a:extLst>
              </p:cNvPr>
              <p:cNvSpPr txBox="1"/>
              <p:nvPr/>
            </p:nvSpPr>
            <p:spPr>
              <a:xfrm>
                <a:off x="3271833" y="2672801"/>
                <a:ext cx="4501803" cy="549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altLang="zh-CN" sz="3200" b="1" spc="300" dirty="0">
                    <a:solidFill>
                      <a:srgbClr val="31589D"/>
                    </a:solidFill>
                    <a:cs typeface="+mn-ea"/>
                    <a:sym typeface="+mn-lt"/>
                  </a:rPr>
                  <a:t>Data Cleaning</a:t>
                </a:r>
                <a:endParaRPr lang="zh-CN" altLang="en-US" sz="3200" b="1" spc="300" dirty="0">
                  <a:solidFill>
                    <a:srgbClr val="31589D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E6202CBD-3900-914B-30CE-69B8A57A2F11}"/>
                  </a:ext>
                </a:extLst>
              </p:cNvPr>
              <p:cNvGrpSpPr/>
              <p:nvPr/>
            </p:nvGrpSpPr>
            <p:grpSpPr>
              <a:xfrm>
                <a:off x="2605927" y="2633740"/>
                <a:ext cx="558566" cy="558566"/>
                <a:chOff x="2322171" y="1450504"/>
                <a:chExt cx="558566" cy="558566"/>
              </a:xfrm>
            </p:grpSpPr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D3EEFCDA-D6DF-7685-A403-A68D4972ED76}"/>
                    </a:ext>
                  </a:extLst>
                </p:cNvPr>
                <p:cNvSpPr/>
                <p:nvPr/>
              </p:nvSpPr>
              <p:spPr>
                <a:xfrm>
                  <a:off x="2322171" y="1450504"/>
                  <a:ext cx="558566" cy="5585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4472C4">
                        <a:lumMod val="75000"/>
                      </a:srgbClr>
                    </a:gs>
                    <a:gs pos="100000">
                      <a:srgbClr val="355FAB"/>
                    </a:gs>
                  </a:gsLst>
                  <a:lin ang="0" scaled="1"/>
                  <a:tileRect/>
                </a:gradFill>
                <a:ln w="38100" cap="flat" cmpd="sng" algn="ctr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6200000" scaled="1"/>
                    <a:tileRect/>
                  </a:gradFill>
                  <a:prstDash val="solid"/>
                  <a:miter lim="800000"/>
                </a:ln>
                <a:effectLst>
                  <a:outerShdw blurRad="177800" dist="254000" dir="2700000" algn="tl" rotWithShape="0">
                    <a:srgbClr val="4472C4">
                      <a:lumMod val="75000"/>
                      <a:alpha val="16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AB334DE-4C87-1434-F3D5-C0F8EE75B9BD}"/>
                    </a:ext>
                  </a:extLst>
                </p:cNvPr>
                <p:cNvSpPr txBox="1"/>
                <p:nvPr/>
              </p:nvSpPr>
              <p:spPr>
                <a:xfrm>
                  <a:off x="2382398" y="1476059"/>
                  <a:ext cx="440976" cy="5208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30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2</a:t>
                  </a:r>
                  <a:endParaRPr lang="zh-CN" altLang="en-US" sz="3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928D1B0-DCBC-BC8B-D904-AB9A9C996DF1}"/>
                </a:ext>
              </a:extLst>
            </p:cNvPr>
            <p:cNvCxnSpPr>
              <a:cxnSpLocks/>
            </p:cNvCxnSpPr>
            <p:nvPr/>
          </p:nvCxnSpPr>
          <p:spPr>
            <a:xfrm>
              <a:off x="3293827" y="3397962"/>
              <a:ext cx="5995002" cy="0"/>
            </a:xfrm>
            <a:prstGeom prst="line">
              <a:avLst/>
            </a:prstGeom>
            <a:ln>
              <a:solidFill>
                <a:srgbClr val="31589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C77A930-5DB8-AF02-8763-44091661DBB0}"/>
              </a:ext>
            </a:extLst>
          </p:cNvPr>
          <p:cNvGrpSpPr/>
          <p:nvPr/>
        </p:nvGrpSpPr>
        <p:grpSpPr>
          <a:xfrm>
            <a:off x="3192251" y="3626180"/>
            <a:ext cx="6530522" cy="639139"/>
            <a:chOff x="2605927" y="2644258"/>
            <a:chExt cx="7701094" cy="753704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9632A6C-7C45-95D0-C79E-3F5784DF2E58}"/>
                </a:ext>
              </a:extLst>
            </p:cNvPr>
            <p:cNvGrpSpPr/>
            <p:nvPr/>
          </p:nvGrpSpPr>
          <p:grpSpPr>
            <a:xfrm>
              <a:off x="2605927" y="2644258"/>
              <a:ext cx="7701094" cy="738592"/>
              <a:chOff x="2605927" y="2633740"/>
              <a:chExt cx="6139463" cy="588819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C7AC0A8-BC64-5F4C-9576-F7D9721B7B0B}"/>
                  </a:ext>
                </a:extLst>
              </p:cNvPr>
              <p:cNvSpPr txBox="1"/>
              <p:nvPr/>
            </p:nvSpPr>
            <p:spPr>
              <a:xfrm>
                <a:off x="3271833" y="2672801"/>
                <a:ext cx="5473557" cy="549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altLang="zh-CN" sz="3200" b="1" spc="300" dirty="0">
                    <a:solidFill>
                      <a:srgbClr val="31589D"/>
                    </a:solidFill>
                    <a:cs typeface="+mn-ea"/>
                    <a:sym typeface="+mn-lt"/>
                  </a:rPr>
                  <a:t>Data Analysis &amp; Insights</a:t>
                </a:r>
                <a:endParaRPr lang="zh-CN" altLang="en-US" sz="3200" b="1" spc="300" dirty="0">
                  <a:solidFill>
                    <a:srgbClr val="31589D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1CFC437B-BC65-E3D9-C105-21961CCAD20F}"/>
                  </a:ext>
                </a:extLst>
              </p:cNvPr>
              <p:cNvGrpSpPr/>
              <p:nvPr/>
            </p:nvGrpSpPr>
            <p:grpSpPr>
              <a:xfrm>
                <a:off x="2605927" y="2633740"/>
                <a:ext cx="558566" cy="558566"/>
                <a:chOff x="2322171" y="1450504"/>
                <a:chExt cx="558566" cy="558566"/>
              </a:xfrm>
            </p:grpSpPr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1EBFB31C-9CF2-3BCC-864B-6BBE018101AD}"/>
                    </a:ext>
                  </a:extLst>
                </p:cNvPr>
                <p:cNvSpPr/>
                <p:nvPr/>
              </p:nvSpPr>
              <p:spPr>
                <a:xfrm>
                  <a:off x="2322171" y="1450504"/>
                  <a:ext cx="558566" cy="5585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4472C4">
                        <a:lumMod val="75000"/>
                      </a:srgbClr>
                    </a:gs>
                    <a:gs pos="100000">
                      <a:srgbClr val="355FAB"/>
                    </a:gs>
                  </a:gsLst>
                  <a:lin ang="0" scaled="1"/>
                  <a:tileRect/>
                </a:gradFill>
                <a:ln w="38100" cap="flat" cmpd="sng" algn="ctr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6200000" scaled="1"/>
                    <a:tileRect/>
                  </a:gradFill>
                  <a:prstDash val="solid"/>
                  <a:miter lim="800000"/>
                </a:ln>
                <a:effectLst>
                  <a:outerShdw blurRad="177800" dist="254000" dir="2700000" algn="tl" rotWithShape="0">
                    <a:srgbClr val="4472C4">
                      <a:lumMod val="75000"/>
                      <a:alpha val="16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85B77939-7369-2905-591E-7470F1067BCB}"/>
                    </a:ext>
                  </a:extLst>
                </p:cNvPr>
                <p:cNvSpPr txBox="1"/>
                <p:nvPr/>
              </p:nvSpPr>
              <p:spPr>
                <a:xfrm>
                  <a:off x="2382398" y="1468896"/>
                  <a:ext cx="440976" cy="5208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altLang="zh-CN" sz="30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3</a:t>
                  </a:r>
                  <a:endParaRPr lang="zh-CN" altLang="en-US" sz="3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C8703C3-A1DF-D50D-1FB2-56CDB02C594C}"/>
                </a:ext>
              </a:extLst>
            </p:cNvPr>
            <p:cNvCxnSpPr>
              <a:cxnSpLocks/>
            </p:cNvCxnSpPr>
            <p:nvPr/>
          </p:nvCxnSpPr>
          <p:spPr>
            <a:xfrm>
              <a:off x="3293827" y="3397962"/>
              <a:ext cx="5995002" cy="0"/>
            </a:xfrm>
            <a:prstGeom prst="line">
              <a:avLst/>
            </a:prstGeom>
            <a:ln>
              <a:solidFill>
                <a:srgbClr val="31589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AE039F6-AABB-772C-96CE-4E92A4AC29D9}"/>
              </a:ext>
            </a:extLst>
          </p:cNvPr>
          <p:cNvGrpSpPr/>
          <p:nvPr/>
        </p:nvGrpSpPr>
        <p:grpSpPr>
          <a:xfrm>
            <a:off x="3195399" y="4719933"/>
            <a:ext cx="8805256" cy="639141"/>
            <a:chOff x="2605927" y="2644255"/>
            <a:chExt cx="10383565" cy="753707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4F5AFE0D-F505-64F7-A2FD-2E71B7EB2DEA}"/>
                </a:ext>
              </a:extLst>
            </p:cNvPr>
            <p:cNvGrpSpPr/>
            <p:nvPr/>
          </p:nvGrpSpPr>
          <p:grpSpPr>
            <a:xfrm>
              <a:off x="2605927" y="2644255"/>
              <a:ext cx="10383565" cy="738596"/>
              <a:chOff x="2605927" y="2633740"/>
              <a:chExt cx="8277983" cy="588823"/>
            </a:xfrm>
          </p:grpSpPr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4874485C-6DE8-E823-F0A9-FFAD6CE7C960}"/>
                  </a:ext>
                </a:extLst>
              </p:cNvPr>
              <p:cNvSpPr txBox="1"/>
              <p:nvPr/>
            </p:nvSpPr>
            <p:spPr>
              <a:xfrm>
                <a:off x="3271831" y="2672804"/>
                <a:ext cx="7612079" cy="549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altLang="zh-CN" sz="3200" b="1" spc="300" dirty="0">
                    <a:solidFill>
                      <a:srgbClr val="31589D"/>
                    </a:solidFill>
                    <a:cs typeface="+mn-ea"/>
                    <a:sym typeface="+mn-lt"/>
                  </a:rPr>
                  <a:t>Conclusion &amp; Recommendations</a:t>
                </a:r>
                <a:endParaRPr lang="zh-CN" altLang="en-US" sz="3200" b="1" spc="300" dirty="0">
                  <a:solidFill>
                    <a:srgbClr val="31589D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D786AFE8-CE66-21EA-12FF-2E194F9294A6}"/>
                  </a:ext>
                </a:extLst>
              </p:cNvPr>
              <p:cNvGrpSpPr/>
              <p:nvPr/>
            </p:nvGrpSpPr>
            <p:grpSpPr>
              <a:xfrm>
                <a:off x="2605927" y="2633740"/>
                <a:ext cx="558566" cy="558566"/>
                <a:chOff x="2322171" y="1450504"/>
                <a:chExt cx="558566" cy="558566"/>
              </a:xfrm>
            </p:grpSpPr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36DA936-9C69-0540-066A-A98359703887}"/>
                    </a:ext>
                  </a:extLst>
                </p:cNvPr>
                <p:cNvSpPr/>
                <p:nvPr/>
              </p:nvSpPr>
              <p:spPr>
                <a:xfrm>
                  <a:off x="2322171" y="1450504"/>
                  <a:ext cx="558566" cy="5585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4472C4">
                        <a:lumMod val="75000"/>
                      </a:srgbClr>
                    </a:gs>
                    <a:gs pos="100000">
                      <a:srgbClr val="355FAB"/>
                    </a:gs>
                  </a:gsLst>
                  <a:lin ang="0" scaled="1"/>
                  <a:tileRect/>
                </a:gradFill>
                <a:ln w="38100" cap="flat" cmpd="sng" algn="ctr"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6200000" scaled="1"/>
                    <a:tileRect/>
                  </a:gradFill>
                  <a:prstDash val="solid"/>
                  <a:miter lim="800000"/>
                </a:ln>
                <a:effectLst>
                  <a:outerShdw blurRad="177800" dist="254000" dir="2700000" algn="tl" rotWithShape="0">
                    <a:srgbClr val="4472C4">
                      <a:lumMod val="75000"/>
                      <a:alpha val="16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0BDFAD6E-081C-F62E-6A11-A01759154CA7}"/>
                    </a:ext>
                  </a:extLst>
                </p:cNvPr>
                <p:cNvSpPr txBox="1"/>
                <p:nvPr/>
              </p:nvSpPr>
              <p:spPr>
                <a:xfrm>
                  <a:off x="2389562" y="1468896"/>
                  <a:ext cx="440976" cy="5208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altLang="zh-CN" sz="30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4</a:t>
                  </a:r>
                  <a:endParaRPr lang="zh-CN" altLang="en-US" sz="3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CEE62A5A-7A18-135B-9DB3-F5EA9B4140BA}"/>
                </a:ext>
              </a:extLst>
            </p:cNvPr>
            <p:cNvCxnSpPr>
              <a:cxnSpLocks/>
            </p:cNvCxnSpPr>
            <p:nvPr/>
          </p:nvCxnSpPr>
          <p:spPr>
            <a:xfrm>
              <a:off x="3293827" y="3397962"/>
              <a:ext cx="5995002" cy="0"/>
            </a:xfrm>
            <a:prstGeom prst="line">
              <a:avLst/>
            </a:prstGeom>
            <a:ln>
              <a:solidFill>
                <a:srgbClr val="31589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73264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132D9B2D-EB09-4BCF-8206-3CC16ABA4169}"/>
              </a:ext>
            </a:extLst>
          </p:cNvPr>
          <p:cNvSpPr txBox="1"/>
          <p:nvPr/>
        </p:nvSpPr>
        <p:spPr>
          <a:xfrm>
            <a:off x="2549407" y="2359968"/>
            <a:ext cx="8516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200" b="1" spc="300" dirty="0">
                <a:solidFill>
                  <a:srgbClr val="31589D"/>
                </a:solidFill>
                <a:cs typeface="+mn-ea"/>
                <a:sym typeface="+mn-lt"/>
              </a:rPr>
              <a:t>Introduction</a:t>
            </a:r>
            <a:endParaRPr lang="zh-CN" altLang="en-US" sz="7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0C858A-52EA-4A5A-AEAC-50C314A8AB52}"/>
              </a:ext>
            </a:extLst>
          </p:cNvPr>
          <p:cNvSpPr txBox="1"/>
          <p:nvPr/>
        </p:nvSpPr>
        <p:spPr>
          <a:xfrm>
            <a:off x="736572" y="2202013"/>
            <a:ext cx="2011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9600" b="1" dirty="0">
                <a:solidFill>
                  <a:srgbClr val="31589D"/>
                </a:solidFill>
                <a:cs typeface="+mn-ea"/>
                <a:sym typeface="+mn-lt"/>
              </a:rPr>
              <a:t>01</a:t>
            </a:r>
            <a:endParaRPr lang="zh-CN" altLang="en-US" sz="9600" b="1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99FE17B-A7C1-4F53-AFAD-1F09BC4350F4}"/>
              </a:ext>
            </a:extLst>
          </p:cNvPr>
          <p:cNvCxnSpPr>
            <a:cxnSpLocks/>
          </p:cNvCxnSpPr>
          <p:nvPr/>
        </p:nvCxnSpPr>
        <p:spPr>
          <a:xfrm>
            <a:off x="1006347" y="3798465"/>
            <a:ext cx="9952036" cy="0"/>
          </a:xfrm>
          <a:prstGeom prst="line">
            <a:avLst/>
          </a:prstGeom>
          <a:ln w="22225">
            <a:solidFill>
              <a:srgbClr val="3158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9A5654-8287-9966-3D50-93E0447C519E}"/>
              </a:ext>
            </a:extLst>
          </p:cNvPr>
          <p:cNvGrpSpPr/>
          <p:nvPr/>
        </p:nvGrpSpPr>
        <p:grpSpPr>
          <a:xfrm>
            <a:off x="11065604" y="6414090"/>
            <a:ext cx="439555" cy="175780"/>
            <a:chOff x="8478982" y="1145091"/>
            <a:chExt cx="647595" cy="25897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8A666E8-C1A4-4EAD-3C6F-733107A09112}"/>
                </a:ext>
              </a:extLst>
            </p:cNvPr>
            <p:cNvGrpSpPr/>
            <p:nvPr/>
          </p:nvGrpSpPr>
          <p:grpSpPr>
            <a:xfrm flipH="1">
              <a:off x="8478982" y="1145092"/>
              <a:ext cx="258975" cy="258975"/>
              <a:chOff x="8478982" y="1145092"/>
              <a:chExt cx="258975" cy="258975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05D50B6F-BEFC-57F9-74D5-A1A3A0633264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3EB616AC-B0CA-5D62-BA4C-9264F21149F0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1E3A8A4-E393-0C57-AAD4-D0D2DB90D73E}"/>
                </a:ext>
              </a:extLst>
            </p:cNvPr>
            <p:cNvGrpSpPr/>
            <p:nvPr/>
          </p:nvGrpSpPr>
          <p:grpSpPr>
            <a:xfrm>
              <a:off x="8867602" y="1145091"/>
              <a:ext cx="258975" cy="258975"/>
              <a:chOff x="8478982" y="1145092"/>
              <a:chExt cx="258975" cy="258975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F3039502-69AC-2FD8-E405-C52FAFC46EDC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rgbClr val="3158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A3CC5EDA-8E3F-6461-8F93-FD0E5645B2FB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254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FDBD-0C20-9894-A07B-D9E4BCB5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942D4DA-F2D9-570E-929F-9883369A6F23}"/>
              </a:ext>
            </a:extLst>
          </p:cNvPr>
          <p:cNvSpPr/>
          <p:nvPr/>
        </p:nvSpPr>
        <p:spPr>
          <a:xfrm>
            <a:off x="320023" y="1042713"/>
            <a:ext cx="5426698" cy="3394399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174771F-1B37-163F-4040-D77D5D4E8EDE}"/>
              </a:ext>
            </a:extLst>
          </p:cNvPr>
          <p:cNvSpPr txBox="1"/>
          <p:nvPr/>
        </p:nvSpPr>
        <p:spPr>
          <a:xfrm>
            <a:off x="320023" y="131669"/>
            <a:ext cx="5610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1.1 Background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560B16-33B9-B5DB-3CBC-0C497C0E0404}"/>
              </a:ext>
            </a:extLst>
          </p:cNvPr>
          <p:cNvSpPr txBox="1"/>
          <p:nvPr/>
        </p:nvSpPr>
        <p:spPr>
          <a:xfrm>
            <a:off x="1475232" y="792551"/>
            <a:ext cx="9241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31589D"/>
              </a:solidFill>
              <a:effectLst/>
              <a:uLnTx/>
              <a:uFillTx/>
              <a:latin typeface="Arial" panose="020F0302020204030204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29CF08-7464-7949-AC0E-4FE72ECB3062}"/>
              </a:ext>
            </a:extLst>
          </p:cNvPr>
          <p:cNvSpPr txBox="1"/>
          <p:nvPr/>
        </p:nvSpPr>
        <p:spPr>
          <a:xfrm>
            <a:off x="671084" y="1412776"/>
            <a:ext cx="5040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The live-streaming industry has grown exponentially. For new streamers or investors, understanding the factors that drive revenue and viewership is crucial. This report analyzes a dataset of 7,548 streamers active in 2025 to provide data-driven strategies.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4BC893-0263-10C4-06EA-65DAEEAD0543}"/>
              </a:ext>
            </a:extLst>
          </p:cNvPr>
          <p:cNvSpPr txBox="1"/>
          <p:nvPr/>
        </p:nvSpPr>
        <p:spPr>
          <a:xfrm>
            <a:off x="654905" y="4865120"/>
            <a:ext cx="504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pc="300" dirty="0">
                <a:solidFill>
                  <a:srgbClr val="31589D"/>
                </a:solidFill>
                <a:cs typeface="+mn-ea"/>
                <a:sym typeface="+mn-lt"/>
              </a:rPr>
              <a:t>Source: Data obtained from Kaggle: </a:t>
            </a:r>
            <a:r>
              <a:rPr lang="en-US" altLang="zh-CN" spc="300" dirty="0">
                <a:solidFill>
                  <a:srgbClr val="31589D"/>
                </a:solidFill>
                <a:cs typeface="+mn-ea"/>
                <a:sym typeface="+mn-lt"/>
                <a:hlinkClick r:id="rId3"/>
              </a:rPr>
              <a:t>https://www.kaggle.com/datasets/arnao5/streamers-statistiques</a:t>
            </a:r>
            <a:r>
              <a:rPr lang="en-US" altLang="zh-CN" spc="300" dirty="0">
                <a:solidFill>
                  <a:srgbClr val="31589D"/>
                </a:solidFill>
                <a:cs typeface="+mn-ea"/>
                <a:sym typeface="+mn-lt"/>
              </a:rPr>
              <a:t> and updated a month ago</a:t>
            </a:r>
          </a:p>
        </p:txBody>
      </p:sp>
      <p:pic>
        <p:nvPicPr>
          <p:cNvPr id="9" name="图片 8" descr="图形用户界面, 应用程序, 电子邮件&#10;&#10;AI 生成的内容可能不正确。">
            <a:extLst>
              <a:ext uri="{FF2B5EF4-FFF2-40B4-BE49-F238E27FC236}">
                <a16:creationId xmlns:a16="http://schemas.microsoft.com/office/drawing/2014/main" id="{8A60818A-C01D-0555-C6DB-52B8ACE1A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826" y="1223438"/>
            <a:ext cx="5610245" cy="463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3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7F46-89BF-0FA8-2CE4-5C00F90E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70CEA70E-F4EC-0EB2-46DC-B143F0C28CD9}"/>
              </a:ext>
            </a:extLst>
          </p:cNvPr>
          <p:cNvSpPr/>
          <p:nvPr/>
        </p:nvSpPr>
        <p:spPr>
          <a:xfrm>
            <a:off x="284946" y="980729"/>
            <a:ext cx="4107178" cy="5544616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F423D51-0889-8D81-3B01-EA19F534E3D2}"/>
              </a:ext>
            </a:extLst>
          </p:cNvPr>
          <p:cNvSpPr txBox="1"/>
          <p:nvPr/>
        </p:nvSpPr>
        <p:spPr>
          <a:xfrm>
            <a:off x="320023" y="131669"/>
            <a:ext cx="5610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1.2 Objectives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E72DA7-17BB-821C-7096-B15657C5745C}"/>
              </a:ext>
            </a:extLst>
          </p:cNvPr>
          <p:cNvSpPr txBox="1"/>
          <p:nvPr/>
        </p:nvSpPr>
        <p:spPr>
          <a:xfrm>
            <a:off x="551384" y="1090769"/>
            <a:ext cx="38407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Aimed to answer 3 key business questions: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spc="300" dirty="0">
              <a:solidFill>
                <a:srgbClr val="31589D"/>
              </a:solidFill>
              <a:cs typeface="+mn-ea"/>
              <a:sym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spc="300" dirty="0">
                <a:solidFill>
                  <a:srgbClr val="31589D"/>
                </a:solidFill>
                <a:cs typeface="+mn-ea"/>
                <a:sym typeface="+mn-lt"/>
              </a:rPr>
              <a:t>Platform Strategy</a:t>
            </a: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: </a:t>
            </a:r>
            <a:r>
              <a:rPr lang="en-US" altLang="zh-CN" sz="2000" spc="300" dirty="0">
                <a:cs typeface="+mn-ea"/>
                <a:sym typeface="+mn-lt"/>
              </a:rPr>
              <a:t>Which platform offers the best financial return and stability?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spc="300" dirty="0">
                <a:solidFill>
                  <a:srgbClr val="31589D"/>
                </a:solidFill>
                <a:cs typeface="+mn-ea"/>
                <a:sym typeface="+mn-lt"/>
              </a:rPr>
              <a:t>Content Strategy</a:t>
            </a: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: </a:t>
            </a:r>
            <a:r>
              <a:rPr lang="en-US" altLang="zh-CN" sz="2000" spc="300" dirty="0">
                <a:cs typeface="+mn-ea"/>
                <a:sym typeface="+mn-lt"/>
              </a:rPr>
              <a:t>Which content categories yield the highest viewer engagement?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spc="300" dirty="0">
                <a:solidFill>
                  <a:srgbClr val="31589D"/>
                </a:solidFill>
                <a:cs typeface="+mn-ea"/>
                <a:sym typeface="+mn-lt"/>
              </a:rPr>
              <a:t>Efficiency Analysis</a:t>
            </a: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:</a:t>
            </a:r>
            <a:r>
              <a:rPr lang="en-US" altLang="zh-CN" sz="2000" spc="300" dirty="0">
                <a:cs typeface="+mn-ea"/>
                <a:sym typeface="+mn-lt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spc="300" dirty="0">
                <a:cs typeface="+mn-ea"/>
                <a:sym typeface="+mn-lt"/>
              </a:rPr>
              <a:t>Is there a direct correlation between hours streamed and revenue?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8875E4-1E18-7C1E-0999-C666ADC25DF0}"/>
              </a:ext>
            </a:extLst>
          </p:cNvPr>
          <p:cNvSpPr txBox="1"/>
          <p:nvPr/>
        </p:nvSpPr>
        <p:spPr>
          <a:xfrm>
            <a:off x="4799856" y="968667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FDBC600F-AC4A-FF24-B1F9-C41722994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44" y="1428471"/>
            <a:ext cx="7192678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2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0961-0076-4BDB-F65F-08CA9C6A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2F017AA-EB12-E193-DA98-C650458C3C89}"/>
              </a:ext>
            </a:extLst>
          </p:cNvPr>
          <p:cNvSpPr txBox="1"/>
          <p:nvPr/>
        </p:nvSpPr>
        <p:spPr>
          <a:xfrm>
            <a:off x="2546644" y="1019723"/>
            <a:ext cx="8516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200" b="1" spc="300" dirty="0">
                <a:solidFill>
                  <a:srgbClr val="31589D"/>
                </a:solidFill>
                <a:cs typeface="+mn-ea"/>
                <a:sym typeface="+mn-lt"/>
              </a:rPr>
              <a:t>Data Cleaning</a:t>
            </a:r>
            <a:endParaRPr lang="zh-CN" altLang="en-US" sz="7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83D63-AAEA-5B81-C1E1-D8A822DFC947}"/>
              </a:ext>
            </a:extLst>
          </p:cNvPr>
          <p:cNvSpPr txBox="1"/>
          <p:nvPr/>
        </p:nvSpPr>
        <p:spPr>
          <a:xfrm>
            <a:off x="938467" y="837908"/>
            <a:ext cx="2011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9600" b="1" dirty="0">
                <a:solidFill>
                  <a:srgbClr val="31589D"/>
                </a:solidFill>
                <a:cs typeface="+mn-ea"/>
                <a:sym typeface="+mn-lt"/>
              </a:rPr>
              <a:t>02</a:t>
            </a:r>
            <a:endParaRPr lang="zh-CN" altLang="en-US" sz="9600" b="1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9744485-6FB2-90DD-9298-32B593889DD9}"/>
              </a:ext>
            </a:extLst>
          </p:cNvPr>
          <p:cNvCxnSpPr>
            <a:cxnSpLocks/>
          </p:cNvCxnSpPr>
          <p:nvPr/>
        </p:nvCxnSpPr>
        <p:spPr>
          <a:xfrm>
            <a:off x="922238" y="2708920"/>
            <a:ext cx="9952036" cy="0"/>
          </a:xfrm>
          <a:prstGeom prst="line">
            <a:avLst/>
          </a:prstGeom>
          <a:ln w="22225">
            <a:solidFill>
              <a:srgbClr val="3158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BA29E1C-C327-93F8-45D8-709904A3B910}"/>
              </a:ext>
            </a:extLst>
          </p:cNvPr>
          <p:cNvGrpSpPr/>
          <p:nvPr/>
        </p:nvGrpSpPr>
        <p:grpSpPr>
          <a:xfrm rot="10800000" flipH="1" flipV="1">
            <a:off x="819534" y="837908"/>
            <a:ext cx="275432" cy="199853"/>
            <a:chOff x="400050" y="466218"/>
            <a:chExt cx="956310" cy="411892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14B135B-6FB4-75B9-F854-193115474778}"/>
                </a:ext>
              </a:extLst>
            </p:cNvPr>
            <p:cNvCxnSpPr/>
            <p:nvPr/>
          </p:nvCxnSpPr>
          <p:spPr>
            <a:xfrm>
              <a:off x="411480" y="466218"/>
              <a:ext cx="94488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59D4425-A35C-2934-2725-C96D74F2F877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4" y="672164"/>
              <a:ext cx="70176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59E3ECB-1C6C-CBDE-31B7-8E760DFF3FCB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" y="878110"/>
              <a:ext cx="444001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000B0C-2C8C-6B1E-A7A0-E8B93DDE69B5}"/>
              </a:ext>
            </a:extLst>
          </p:cNvPr>
          <p:cNvGrpSpPr/>
          <p:nvPr/>
        </p:nvGrpSpPr>
        <p:grpSpPr>
          <a:xfrm>
            <a:off x="11065604" y="6414090"/>
            <a:ext cx="439555" cy="175780"/>
            <a:chOff x="8478982" y="1145091"/>
            <a:chExt cx="647595" cy="25897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77871ED-9513-7047-0977-1DE62B12D89D}"/>
                </a:ext>
              </a:extLst>
            </p:cNvPr>
            <p:cNvGrpSpPr/>
            <p:nvPr/>
          </p:nvGrpSpPr>
          <p:grpSpPr>
            <a:xfrm flipH="1">
              <a:off x="8478982" y="1145092"/>
              <a:ext cx="258975" cy="258975"/>
              <a:chOff x="8478982" y="1145092"/>
              <a:chExt cx="258975" cy="258975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A9230F61-7311-7B5C-5040-43E20F95912D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57EA3314-6C36-A248-7C44-4CAB21891DA9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68EF238-6D95-DA63-4B61-75D86CE88134}"/>
                </a:ext>
              </a:extLst>
            </p:cNvPr>
            <p:cNvGrpSpPr/>
            <p:nvPr/>
          </p:nvGrpSpPr>
          <p:grpSpPr>
            <a:xfrm>
              <a:off x="8867602" y="1145091"/>
              <a:ext cx="258975" cy="258975"/>
              <a:chOff x="8478982" y="1145092"/>
              <a:chExt cx="258975" cy="258975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12E9CDA0-8481-3D98-F316-85FDCE976F45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rgbClr val="3158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44A5D94B-0D74-4172-2076-9EDE6F39ED53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CCE8651-E897-A1C0-1A34-B46FEEF69D4F}"/>
              </a:ext>
            </a:extLst>
          </p:cNvPr>
          <p:cNvSpPr txBox="1"/>
          <p:nvPr/>
        </p:nvSpPr>
        <p:spPr>
          <a:xfrm>
            <a:off x="819533" y="2980758"/>
            <a:ext cx="3404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Since </a:t>
            </a: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  <a:hlinkClick r:id="rId2" action="ppaction://hlinkfile"/>
              </a:rPr>
              <a:t>the data</a:t>
            </a: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 is in French, to ensure a professional English report, we translate French columns and values into English.</a:t>
            </a:r>
          </a:p>
        </p:txBody>
      </p:sp>
      <p:pic>
        <p:nvPicPr>
          <p:cNvPr id="7" name="图片 6" descr="许多鱼在水里&#10;&#10;AI 生成的内容可能不正确。">
            <a:extLst>
              <a:ext uri="{FF2B5EF4-FFF2-40B4-BE49-F238E27FC236}">
                <a16:creationId xmlns:a16="http://schemas.microsoft.com/office/drawing/2014/main" id="{0E4C48C1-8F90-6F81-A0DE-362F5A333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32" y="2830186"/>
            <a:ext cx="6162314" cy="297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8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9CAE-0B76-A286-0498-0EBFF093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6B0D7A-C7C0-F8B9-99F4-12D957392456}"/>
              </a:ext>
            </a:extLst>
          </p:cNvPr>
          <p:cNvSpPr txBox="1"/>
          <p:nvPr/>
        </p:nvSpPr>
        <p:spPr>
          <a:xfrm>
            <a:off x="191344" y="908720"/>
            <a:ext cx="7560840" cy="351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column_mapping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nom_streamer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Streamer_Name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plateforme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pays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categorie_contenu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Content_Category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style_stream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Stream_Style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moyenne_viewers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Avg_Viewers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pic_viewers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Peak_Viewers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abonnements_mensuels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Monthly_Subscribers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dons_mensuels_eur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Monthly_Donations_EUR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duree_watch_moyenne_min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Avg_Watch_Time_Min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duree_stream_moyenne_h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Avg_Stream_Duration_Hours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frequence_stream_mois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Stream_Frequency_Month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langue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Language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revenu_mensuel_eur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partenaire_officiel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Official_Partner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column_mapping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D96193-06A8-AEA2-B2E9-00598FDC0F8B}"/>
              </a:ext>
            </a:extLst>
          </p:cNvPr>
          <p:cNvSpPr txBox="1"/>
          <p:nvPr/>
        </p:nvSpPr>
        <p:spPr>
          <a:xfrm>
            <a:off x="263352" y="332656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919279-F42C-D2B6-2A5C-9611563A998B}"/>
              </a:ext>
            </a:extLst>
          </p:cNvPr>
          <p:cNvSpPr txBox="1"/>
          <p:nvPr/>
        </p:nvSpPr>
        <p:spPr>
          <a:xfrm>
            <a:off x="7752184" y="908720"/>
            <a:ext cx="4104456" cy="3516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df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['</a:t>
            </a:r>
            <a:r>
              <a:rPr lang="en-US" altLang="zh-CN" dirty="0" err="1">
                <a:solidFill>
                  <a:srgbClr val="448C27"/>
                </a:solidFill>
                <a:latin typeface="Consolas" panose="020B0609020204030204" pitchFamily="49" charset="0"/>
              </a:rPr>
              <a:t>Official_Partner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']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df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['</a:t>
            </a:r>
            <a:r>
              <a:rPr lang="en-US" altLang="zh-CN" dirty="0" err="1">
                <a:solidFill>
                  <a:srgbClr val="448C27"/>
                </a:solidFill>
                <a:latin typeface="Consolas" panose="020B0609020204030204" pitchFamily="49" charset="0"/>
              </a:rPr>
              <a:t>Official_Partner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'].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map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({'</a:t>
            </a:r>
            <a:r>
              <a:rPr lang="en-US" altLang="zh-CN" dirty="0">
                <a:solidFill>
                  <a:srgbClr val="448C27"/>
                </a:solidFill>
                <a:latin typeface="Consolas" panose="020B0609020204030204" pitchFamily="49" charset="0"/>
              </a:rPr>
              <a:t>Oui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':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448C27"/>
                </a:solidFill>
                <a:latin typeface="Consolas" panose="020B0609020204030204" pitchFamily="49" charset="0"/>
              </a:rPr>
              <a:t>Yes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448C27"/>
                </a:solidFill>
                <a:latin typeface="Consolas" panose="020B0609020204030204" pitchFamily="49" charset="0"/>
              </a:rPr>
              <a:t>Non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':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448C27"/>
                </a:solidFill>
                <a:latin typeface="Consolas" panose="020B0609020204030204" pitchFamily="49" charset="0"/>
              </a:rPr>
              <a:t>No</a:t>
            </a:r>
            <a:r>
              <a:rPr lang="en-US" altLang="zh-CN" dirty="0">
                <a:solidFill>
                  <a:srgbClr val="777777"/>
                </a:solidFill>
                <a:latin typeface="Consolas" panose="020B0609020204030204" pitchFamily="49" charset="0"/>
              </a:rPr>
              <a:t>'})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country_map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Etats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-Unis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USA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Royaume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-Uni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UK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Allemagne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Germany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   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France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France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Espagne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Spain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Belgique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Belgium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'}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']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['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'].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country_map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Cleaned Data Preview: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zh-CN" altLang="en-US" dirty="0"/>
          </a:p>
        </p:txBody>
      </p:sp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34AC5C41-D9F3-F86F-EF1C-F4AB3350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59" y="4448597"/>
            <a:ext cx="10241203" cy="22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2D75-2E63-F736-BE0C-0CDE07B1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D8BBD3B-DE33-7333-157F-9A5C1514DAC6}"/>
              </a:ext>
            </a:extLst>
          </p:cNvPr>
          <p:cNvSpPr txBox="1"/>
          <p:nvPr/>
        </p:nvSpPr>
        <p:spPr>
          <a:xfrm>
            <a:off x="407369" y="2359968"/>
            <a:ext cx="11881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200" b="1" spc="300" dirty="0">
                <a:solidFill>
                  <a:srgbClr val="31589D"/>
                </a:solidFill>
                <a:cs typeface="+mn-ea"/>
                <a:sym typeface="+mn-lt"/>
              </a:rPr>
              <a:t>Data Analysis &amp; Insights</a:t>
            </a:r>
            <a:endParaRPr lang="zh-CN" altLang="en-US" sz="7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B0CC53-D292-3196-7C6C-FF037D21F5C9}"/>
              </a:ext>
            </a:extLst>
          </p:cNvPr>
          <p:cNvSpPr txBox="1"/>
          <p:nvPr/>
        </p:nvSpPr>
        <p:spPr>
          <a:xfrm>
            <a:off x="1199456" y="790308"/>
            <a:ext cx="2011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9600" b="1" dirty="0">
                <a:solidFill>
                  <a:srgbClr val="31589D"/>
                </a:solidFill>
                <a:cs typeface="+mn-ea"/>
                <a:sym typeface="+mn-lt"/>
              </a:rPr>
              <a:t>03</a:t>
            </a:r>
            <a:endParaRPr lang="zh-CN" altLang="en-US" sz="9600" b="1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099F68D-8641-212C-A641-B6B392DC2D55}"/>
              </a:ext>
            </a:extLst>
          </p:cNvPr>
          <p:cNvCxnSpPr>
            <a:cxnSpLocks/>
          </p:cNvCxnSpPr>
          <p:nvPr/>
        </p:nvCxnSpPr>
        <p:spPr>
          <a:xfrm>
            <a:off x="1006347" y="3798465"/>
            <a:ext cx="9952036" cy="0"/>
          </a:xfrm>
          <a:prstGeom prst="line">
            <a:avLst/>
          </a:prstGeom>
          <a:ln w="22225">
            <a:solidFill>
              <a:srgbClr val="3158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3AF0DC2-48E1-6F15-F57F-7FC9D0D4C74C}"/>
              </a:ext>
            </a:extLst>
          </p:cNvPr>
          <p:cNvGrpSpPr/>
          <p:nvPr/>
        </p:nvGrpSpPr>
        <p:grpSpPr>
          <a:xfrm rot="10800000" flipH="1" flipV="1">
            <a:off x="819534" y="837908"/>
            <a:ext cx="275432" cy="199853"/>
            <a:chOff x="400050" y="466218"/>
            <a:chExt cx="956310" cy="411892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7BBB8CE-7733-4747-DE88-E1A0C7C6092A}"/>
                </a:ext>
              </a:extLst>
            </p:cNvPr>
            <p:cNvCxnSpPr/>
            <p:nvPr/>
          </p:nvCxnSpPr>
          <p:spPr>
            <a:xfrm>
              <a:off x="411480" y="466218"/>
              <a:ext cx="94488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1C0B944-8ABB-A02F-3347-866A0642A8C2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4" y="672164"/>
              <a:ext cx="70176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01204BA-6825-AE8B-3FB3-90BB1BDF1FE6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" y="878110"/>
              <a:ext cx="444001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ABFD87D-732D-25E8-9850-414D78A959E9}"/>
              </a:ext>
            </a:extLst>
          </p:cNvPr>
          <p:cNvGrpSpPr/>
          <p:nvPr/>
        </p:nvGrpSpPr>
        <p:grpSpPr>
          <a:xfrm>
            <a:off x="11065604" y="6414090"/>
            <a:ext cx="439555" cy="175780"/>
            <a:chOff x="8478982" y="1145091"/>
            <a:chExt cx="647595" cy="25897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C85A395-462C-0869-BB8B-4279FA68AF77}"/>
                </a:ext>
              </a:extLst>
            </p:cNvPr>
            <p:cNvGrpSpPr/>
            <p:nvPr/>
          </p:nvGrpSpPr>
          <p:grpSpPr>
            <a:xfrm flipH="1">
              <a:off x="8478982" y="1145092"/>
              <a:ext cx="258975" cy="258975"/>
              <a:chOff x="8478982" y="1145092"/>
              <a:chExt cx="258975" cy="258975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897E699D-7D26-0A7A-EEE7-835BA9D9BEF9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C7A765E6-6DB4-42E8-BCD7-400DEACD4B3C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D81375-CDAB-097D-7F3D-D9F2284779FC}"/>
                </a:ext>
              </a:extLst>
            </p:cNvPr>
            <p:cNvGrpSpPr/>
            <p:nvPr/>
          </p:nvGrpSpPr>
          <p:grpSpPr>
            <a:xfrm>
              <a:off x="8867602" y="1145091"/>
              <a:ext cx="258975" cy="258975"/>
              <a:chOff x="8478982" y="1145092"/>
              <a:chExt cx="258975" cy="258975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74E44E1-564D-9C33-4E62-E3FA41F8930C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rgbClr val="3158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E29F71FF-6EC7-7E82-805B-FCCB32BEC95F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050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C19E-4E08-A4C0-5AB0-AB63889E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30277258-C198-249A-59B3-0B55DEAC235E}"/>
              </a:ext>
            </a:extLst>
          </p:cNvPr>
          <p:cNvSpPr/>
          <p:nvPr/>
        </p:nvSpPr>
        <p:spPr>
          <a:xfrm>
            <a:off x="407368" y="824411"/>
            <a:ext cx="6379534" cy="2143467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CD984BD-F9FA-DC26-70C8-7B427296AC5C}"/>
              </a:ext>
            </a:extLst>
          </p:cNvPr>
          <p:cNvSpPr txBox="1"/>
          <p:nvPr/>
        </p:nvSpPr>
        <p:spPr>
          <a:xfrm>
            <a:off x="320022" y="131669"/>
            <a:ext cx="10528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3.1 Platform Strategy: Revenue Distribution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64C62B-869E-64A8-B6F7-85612B0CCD8F}"/>
              </a:ext>
            </a:extLst>
          </p:cNvPr>
          <p:cNvSpPr txBox="1"/>
          <p:nvPr/>
        </p:nvSpPr>
        <p:spPr>
          <a:xfrm>
            <a:off x="1475232" y="792551"/>
            <a:ext cx="9241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31589D"/>
              </a:solidFill>
              <a:effectLst/>
              <a:uLnTx/>
              <a:uFillTx/>
              <a:latin typeface="Arial" panose="020F0302020204030204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DC3FC0-C5C3-5286-7712-8D8218B6D1EF}"/>
              </a:ext>
            </a:extLst>
          </p:cNvPr>
          <p:cNvSpPr txBox="1"/>
          <p:nvPr/>
        </p:nvSpPr>
        <p:spPr>
          <a:xfrm>
            <a:off x="543715" y="905775"/>
            <a:ext cx="65603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Which platform generates the highest gross revenue?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1600" spc="300" dirty="0">
              <a:solidFill>
                <a:srgbClr val="31589D"/>
              </a:solidFill>
              <a:cs typeface="+mn-ea"/>
              <a:sym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Bar Chart: </a:t>
            </a:r>
            <a:r>
              <a:rPr lang="en-US" altLang="zh-CN" sz="1600" spc="300" dirty="0">
                <a:cs typeface="+mn-ea"/>
                <a:sym typeface="+mn-lt"/>
              </a:rPr>
              <a:t>Shows the average income.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Boxplot: </a:t>
            </a:r>
            <a:r>
              <a:rPr lang="en-US" altLang="zh-CN" sz="1600" spc="300" dirty="0">
                <a:cs typeface="+mn-ea"/>
                <a:sym typeface="+mn-lt"/>
              </a:rPr>
              <a:t>Shows the range of income (Min, Max, and Outliers). This helps us understand if the income is stable or relies on a few lucky streamers.</a:t>
            </a:r>
          </a:p>
        </p:txBody>
      </p:sp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EF2B956-E0C8-5770-FE1D-667CA0015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49" y="792551"/>
            <a:ext cx="4943161" cy="41486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4525924-5FF3-7E4C-4E32-08914DEFA91A}"/>
              </a:ext>
            </a:extLst>
          </p:cNvPr>
          <p:cNvSpPr txBox="1"/>
          <p:nvPr/>
        </p:nvSpPr>
        <p:spPr>
          <a:xfrm>
            <a:off x="407368" y="3384004"/>
            <a:ext cx="6379534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axes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subplots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16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sns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barplot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data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Platform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estimator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mean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errorbar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None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palette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viridis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set_title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Average Monthly Revenue by Platform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set_ylabel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Avg Revenue (€)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sns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boxplot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data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Platform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palette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viridis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showfliers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False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set_title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Income Distribution (Excluding Top 1% Outliers)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axes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set_ylabel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 Revenue (€)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792E59-4FE0-5DE1-3ECB-2F8A3D7D997D}"/>
              </a:ext>
            </a:extLst>
          </p:cNvPr>
          <p:cNvSpPr txBox="1"/>
          <p:nvPr/>
        </p:nvSpPr>
        <p:spPr>
          <a:xfrm>
            <a:off x="7032104" y="6041651"/>
            <a:ext cx="4429335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tight_layout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show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316192-93D5-F824-48DA-C9076B21123B}"/>
              </a:ext>
            </a:extLst>
          </p:cNvPr>
          <p:cNvSpPr txBox="1"/>
          <p:nvPr/>
        </p:nvSpPr>
        <p:spPr>
          <a:xfrm>
            <a:off x="162166" y="2999738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8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0AA0-117F-9240-8F59-26AD0DCE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2648262C-BAD8-F770-59E2-E4663FB9F5FA}"/>
              </a:ext>
            </a:extLst>
          </p:cNvPr>
          <p:cNvSpPr txBox="1"/>
          <p:nvPr/>
        </p:nvSpPr>
        <p:spPr>
          <a:xfrm>
            <a:off x="320022" y="131669"/>
            <a:ext cx="10528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3.1 Platform Strategy: Revenue Distribution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12B5C9-EEC2-604B-BF08-E0CD91511700}"/>
              </a:ext>
            </a:extLst>
          </p:cNvPr>
          <p:cNvSpPr txBox="1"/>
          <p:nvPr/>
        </p:nvSpPr>
        <p:spPr>
          <a:xfrm>
            <a:off x="1475232" y="792551"/>
            <a:ext cx="9241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31589D"/>
              </a:solidFill>
              <a:effectLst/>
              <a:uLnTx/>
              <a:uFillTx/>
              <a:latin typeface="Arial" panose="020F0302020204030204"/>
              <a:ea typeface="微软雅黑"/>
              <a:cs typeface="+mn-cs"/>
            </a:endParaRPr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D689C551-D767-011F-DDF7-27CB0485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908720"/>
            <a:ext cx="12060333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F030-7220-509E-7CF8-8724DD56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5FDED79-79C2-3418-49CC-4AA1826D3032}"/>
              </a:ext>
            </a:extLst>
          </p:cNvPr>
          <p:cNvSpPr/>
          <p:nvPr/>
        </p:nvSpPr>
        <p:spPr>
          <a:xfrm>
            <a:off x="299442" y="824411"/>
            <a:ext cx="10045030" cy="584775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232A791-012C-8FD5-2D7D-1386B4A39D8F}"/>
              </a:ext>
            </a:extLst>
          </p:cNvPr>
          <p:cNvSpPr txBox="1"/>
          <p:nvPr/>
        </p:nvSpPr>
        <p:spPr>
          <a:xfrm>
            <a:off x="320022" y="131669"/>
            <a:ext cx="10528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3.2 Content Strategy: What to stream?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8C215C-DD03-1CE8-DD20-4CA995BBC24B}"/>
              </a:ext>
            </a:extLst>
          </p:cNvPr>
          <p:cNvSpPr txBox="1"/>
          <p:nvPr/>
        </p:nvSpPr>
        <p:spPr>
          <a:xfrm>
            <a:off x="1475232" y="792551"/>
            <a:ext cx="9241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31589D"/>
              </a:solidFill>
              <a:effectLst/>
              <a:uLnTx/>
              <a:uFillTx/>
              <a:latin typeface="Arial" panose="020F0302020204030204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C67BD6-E3B6-A78E-EBB5-C78B58EA9703}"/>
              </a:ext>
            </a:extLst>
          </p:cNvPr>
          <p:cNvSpPr txBox="1"/>
          <p:nvPr/>
        </p:nvSpPr>
        <p:spPr>
          <a:xfrm>
            <a:off x="543715" y="982437"/>
            <a:ext cx="108088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Analyzing which content categories attract the most viewers on average.</a:t>
            </a:r>
            <a:endParaRPr lang="en-US" altLang="zh-CN" sz="1600" spc="300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5CEC4-E6EE-BF5C-AF05-D96ABB743639}"/>
              </a:ext>
            </a:extLst>
          </p:cNvPr>
          <p:cNvSpPr txBox="1"/>
          <p:nvPr/>
        </p:nvSpPr>
        <p:spPr>
          <a:xfrm>
            <a:off x="407368" y="2096166"/>
            <a:ext cx="6379534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top_categories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groupby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Content_Category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')['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Avg_Viewers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'].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mean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sort_values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ascending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False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).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head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).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index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df_top_cat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Content_Category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isin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top_categories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)]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figure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sns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barplot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data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df_top_cat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Avg_Viewers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Content_Category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order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top_categories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palette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magma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Top 10 Content Categories by Average Viewers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15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Average Viewers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Category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show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F12E1A-DA8E-47A2-28EB-E01AE5E4C521}"/>
              </a:ext>
            </a:extLst>
          </p:cNvPr>
          <p:cNvSpPr txBox="1"/>
          <p:nvPr/>
        </p:nvSpPr>
        <p:spPr>
          <a:xfrm>
            <a:off x="407368" y="1599072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38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061D-ACB3-1181-D0C4-344E82BA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66625E4A-66A7-BF7E-4DA9-CFB602219340}"/>
              </a:ext>
            </a:extLst>
          </p:cNvPr>
          <p:cNvSpPr txBox="1"/>
          <p:nvPr/>
        </p:nvSpPr>
        <p:spPr>
          <a:xfrm>
            <a:off x="320022" y="131669"/>
            <a:ext cx="10528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3.2 Content Strategy: What to stream?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2261C57F-D1D1-4B3F-B767-5410D38C9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7" y="980728"/>
            <a:ext cx="11250011" cy="566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0DDC-3B16-F7D1-4EF4-F80865EE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C1093F9-F7C6-FDAA-0378-B3ADC5C969C0}"/>
              </a:ext>
            </a:extLst>
          </p:cNvPr>
          <p:cNvSpPr/>
          <p:nvPr/>
        </p:nvSpPr>
        <p:spPr>
          <a:xfrm>
            <a:off x="263352" y="980963"/>
            <a:ext cx="5184576" cy="2448038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B4C7F27-A985-D189-77CB-A7469BBB9AE0}"/>
              </a:ext>
            </a:extLst>
          </p:cNvPr>
          <p:cNvSpPr txBox="1"/>
          <p:nvPr/>
        </p:nvSpPr>
        <p:spPr>
          <a:xfrm>
            <a:off x="335360" y="133411"/>
            <a:ext cx="7864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3.3 Drivers of Success: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C16FA2-0902-FA85-061B-3F9B5B3A2118}"/>
              </a:ext>
            </a:extLst>
          </p:cNvPr>
          <p:cNvSpPr txBox="1"/>
          <p:nvPr/>
        </p:nvSpPr>
        <p:spPr>
          <a:xfrm>
            <a:off x="331072" y="983934"/>
            <a:ext cx="504056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We</a:t>
            </a:r>
            <a:r>
              <a:rPr lang="en-US" altLang="zh-CN" sz="1600" spc="300">
                <a:solidFill>
                  <a:srgbClr val="31589D"/>
                </a:solidFill>
                <a:cs typeface="+mn-ea"/>
                <a:sym typeface="+mn-lt"/>
              </a:rPr>
              <a:t> </a:t>
            </a: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often ask: "How can I become a top streamer?" Is success driven by working harder (streaming more hours) or by building a loyal community (subscribers)?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1600" spc="300" dirty="0">
              <a:solidFill>
                <a:srgbClr val="31589D"/>
              </a:solidFill>
              <a:cs typeface="+mn-ea"/>
              <a:sym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To answer this, I visualize the relationship between </a:t>
            </a:r>
            <a:r>
              <a:rPr lang="en-US" altLang="zh-CN" b="1" dirty="0"/>
              <a:t>Monthly Subscribers</a:t>
            </a:r>
            <a:r>
              <a:rPr lang="en-US" altLang="zh-CN" dirty="0"/>
              <a:t> and </a:t>
            </a:r>
            <a:r>
              <a:rPr lang="en-US" altLang="zh-CN" b="1" dirty="0"/>
              <a:t>Monthly Revenue</a:t>
            </a:r>
            <a:r>
              <a:rPr lang="en-US" altLang="zh-CN" dirty="0"/>
              <a:t>.</a:t>
            </a:r>
            <a:endParaRPr lang="en-US" altLang="zh-CN" sz="1600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5044E-D4FA-056E-96C6-5C8AF2592038}"/>
              </a:ext>
            </a:extLst>
          </p:cNvPr>
          <p:cNvSpPr txBox="1"/>
          <p:nvPr/>
        </p:nvSpPr>
        <p:spPr>
          <a:xfrm>
            <a:off x="5777655" y="194965"/>
            <a:ext cx="637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400" b="1" spc="300" dirty="0">
                <a:solidFill>
                  <a:srgbClr val="31589D"/>
                </a:solidFill>
                <a:cs typeface="+mn-ea"/>
                <a:sym typeface="+mn-lt"/>
              </a:rPr>
              <a:t>What makes a streamer wealthy?</a:t>
            </a:r>
            <a:endParaRPr lang="zh-CN" altLang="en-US" sz="24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35D2AF-DF8B-2A43-D76F-EC1A2661A7BA}"/>
              </a:ext>
            </a:extLst>
          </p:cNvPr>
          <p:cNvSpPr txBox="1"/>
          <p:nvPr/>
        </p:nvSpPr>
        <p:spPr>
          <a:xfrm>
            <a:off x="5549114" y="1628800"/>
            <a:ext cx="6379534" cy="459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figure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sns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regplot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data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Monthly_Subscribers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scatter_kws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={'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alpha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':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0.5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color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':'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teal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'},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line_kws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={'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color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':'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red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'})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Drivers of Success: Subscribers vs. Revenue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15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 Subscribers (Loyal Fans)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 Revenue (€)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text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Monthly_Subscribers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'].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()*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0.05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'].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()*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0.9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 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Strong Positive Correlation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(More Fans = More Money)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 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fontsize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12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color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darkred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weight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bold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show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6F6F80-D9C7-0B7B-4BA9-FA3B6F680546}"/>
              </a:ext>
            </a:extLst>
          </p:cNvPr>
          <p:cNvSpPr txBox="1"/>
          <p:nvPr/>
        </p:nvSpPr>
        <p:spPr>
          <a:xfrm>
            <a:off x="5549114" y="950579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8D997B1A-9074-ECB1-12BA-1E82F86D3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22" y="3443920"/>
            <a:ext cx="5079510" cy="317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9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5EE1-DD84-E0F6-333F-107277AB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BD34D94E-4055-8511-2D17-39BC39886460}"/>
              </a:ext>
            </a:extLst>
          </p:cNvPr>
          <p:cNvSpPr/>
          <p:nvPr/>
        </p:nvSpPr>
        <p:spPr>
          <a:xfrm>
            <a:off x="407368" y="824411"/>
            <a:ext cx="4248472" cy="1596477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BD4A67A-32D6-FB29-FCC3-35CEA7C84EF5}"/>
              </a:ext>
            </a:extLst>
          </p:cNvPr>
          <p:cNvSpPr txBox="1"/>
          <p:nvPr/>
        </p:nvSpPr>
        <p:spPr>
          <a:xfrm>
            <a:off x="320022" y="131669"/>
            <a:ext cx="10528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3.4 Efficiency Analysis: Heatmap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BCD06A-F581-C131-A140-0661752BD008}"/>
              </a:ext>
            </a:extLst>
          </p:cNvPr>
          <p:cNvSpPr txBox="1"/>
          <p:nvPr/>
        </p:nvSpPr>
        <p:spPr>
          <a:xfrm>
            <a:off x="471706" y="875896"/>
            <a:ext cx="41121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solidFill>
                  <a:srgbClr val="31589D"/>
                </a:solidFill>
                <a:cs typeface="+mn-ea"/>
                <a:sym typeface="+mn-lt"/>
              </a:rPr>
              <a:t>Do longer stream hours lead to more money? So I analyze the correlation between Stream Duration, Subscribers, and Revenue.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DBB5A2-A870-BD1D-42B6-1A6190871CB7}"/>
              </a:ext>
            </a:extLst>
          </p:cNvPr>
          <p:cNvSpPr txBox="1"/>
          <p:nvPr/>
        </p:nvSpPr>
        <p:spPr>
          <a:xfrm>
            <a:off x="344543" y="3033855"/>
            <a:ext cx="4311297" cy="369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cols_to_corr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Avg_Viewers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Monthly_Subscribers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Monthly_Donations_EUR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Avg_Stream_Duration_Hours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Monthly_Revenue_EUR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']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corr_matrix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df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cols_to_corr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].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corr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figure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figsize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=(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8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sns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heatmap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corr_matrix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annot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cmap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 err="1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coolwarm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fmt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.2f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',</a:t>
            </a:r>
            <a:r>
              <a:rPr lang="en-US" altLang="zh-CN" b="0" dirty="0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linewidths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5D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0.5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('</a:t>
            </a:r>
            <a:r>
              <a:rPr lang="en-US" altLang="zh-CN" b="0" dirty="0">
                <a:solidFill>
                  <a:srgbClr val="448C2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Correlation Matrix: What drives Revenue?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plt</a:t>
            </a:r>
            <a:r>
              <a:rPr lang="en-US" altLang="zh-CN" b="0" dirty="0" err="1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333333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show</a:t>
            </a:r>
            <a:r>
              <a:rPr lang="en-US" altLang="zh-CN" b="0" dirty="0">
                <a:solidFill>
                  <a:srgbClr val="777777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CN" b="0" dirty="0">
              <a:solidFill>
                <a:srgbClr val="333333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070334-69BF-C5AF-B75A-0DB3C540B7DF}"/>
              </a:ext>
            </a:extLst>
          </p:cNvPr>
          <p:cNvSpPr txBox="1"/>
          <p:nvPr/>
        </p:nvSpPr>
        <p:spPr>
          <a:xfrm>
            <a:off x="407368" y="2528855"/>
            <a:ext cx="1455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spc="300" dirty="0">
                <a:highlight>
                  <a:srgbClr val="FFFF00"/>
                </a:highlight>
                <a:latin typeface="Segoe UI Black" panose="020B0A02040204020203" pitchFamily="34" charset="0"/>
                <a:ea typeface="Segoe UI Black" panose="020B0A02040204020203" pitchFamily="34" charset="0"/>
                <a:cs typeface="+mn-ea"/>
                <a:sym typeface="+mn-lt"/>
              </a:rPr>
              <a:t>CODE</a:t>
            </a:r>
            <a:r>
              <a:rPr lang="en-US" altLang="zh-CN" sz="1600" spc="300" dirty="0">
                <a:cs typeface="+mn-ea"/>
                <a:sym typeface="+mn-lt"/>
              </a:rPr>
              <a:t>.</a:t>
            </a:r>
          </a:p>
        </p:txBody>
      </p:sp>
      <p:pic>
        <p:nvPicPr>
          <p:cNvPr id="6" name="图片 5" descr="图表, 树状图&#10;&#10;AI 生成的内容可能不正确。">
            <a:extLst>
              <a:ext uri="{FF2B5EF4-FFF2-40B4-BE49-F238E27FC236}">
                <a16:creationId xmlns:a16="http://schemas.microsoft.com/office/drawing/2014/main" id="{9A59BC5E-8D0C-C9FB-A8D6-9E24696C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78" y="875896"/>
            <a:ext cx="6485627" cy="578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5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E21A-90B5-AA9F-7E8D-E379FA01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50C603AD-B727-2FAF-6A85-C92BC6B49B23}"/>
              </a:ext>
            </a:extLst>
          </p:cNvPr>
          <p:cNvSpPr txBox="1"/>
          <p:nvPr/>
        </p:nvSpPr>
        <p:spPr>
          <a:xfrm>
            <a:off x="2351584" y="2359968"/>
            <a:ext cx="90383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200" b="1" spc="300" dirty="0">
                <a:solidFill>
                  <a:srgbClr val="31589D"/>
                </a:solidFill>
                <a:cs typeface="+mn-ea"/>
                <a:sym typeface="+mn-lt"/>
              </a:rPr>
              <a:t>Conclusion &amp; Recommendations</a:t>
            </a:r>
            <a:endParaRPr lang="zh-CN" altLang="en-US" sz="7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838C4D-2DCF-CD89-ADCA-EF769EF57160}"/>
              </a:ext>
            </a:extLst>
          </p:cNvPr>
          <p:cNvSpPr txBox="1"/>
          <p:nvPr/>
        </p:nvSpPr>
        <p:spPr>
          <a:xfrm>
            <a:off x="313392" y="2274705"/>
            <a:ext cx="20116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9600" b="1" dirty="0">
                <a:solidFill>
                  <a:srgbClr val="31589D"/>
                </a:solidFill>
                <a:cs typeface="+mn-ea"/>
                <a:sym typeface="+mn-lt"/>
              </a:rPr>
              <a:t>04</a:t>
            </a:r>
            <a:endParaRPr lang="zh-CN" altLang="en-US" sz="9600" b="1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60D05CE-93C0-098A-EFBE-C345F3C54670}"/>
              </a:ext>
            </a:extLst>
          </p:cNvPr>
          <p:cNvGrpSpPr/>
          <p:nvPr/>
        </p:nvGrpSpPr>
        <p:grpSpPr>
          <a:xfrm rot="10800000" flipH="1" flipV="1">
            <a:off x="819534" y="837908"/>
            <a:ext cx="275432" cy="199853"/>
            <a:chOff x="400050" y="466218"/>
            <a:chExt cx="956310" cy="411892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3D75E72-2D47-B24F-69C5-0599D3E09F04}"/>
                </a:ext>
              </a:extLst>
            </p:cNvPr>
            <p:cNvCxnSpPr/>
            <p:nvPr/>
          </p:nvCxnSpPr>
          <p:spPr>
            <a:xfrm>
              <a:off x="411480" y="466218"/>
              <a:ext cx="94488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7D0BE74-70E0-9A33-5D73-7562136B9B5D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4" y="672164"/>
              <a:ext cx="70176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BD45D20-D820-D17C-707A-457A8DDC03C3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" y="878110"/>
              <a:ext cx="444001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EC36DB-77AC-80DC-E6E6-49A42FFF6E4C}"/>
              </a:ext>
            </a:extLst>
          </p:cNvPr>
          <p:cNvGrpSpPr/>
          <p:nvPr/>
        </p:nvGrpSpPr>
        <p:grpSpPr>
          <a:xfrm>
            <a:off x="11065604" y="6414090"/>
            <a:ext cx="439555" cy="175780"/>
            <a:chOff x="8478982" y="1145091"/>
            <a:chExt cx="647595" cy="25897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8A7D507-5AE1-9EA4-E550-0F7DEA50C8FC}"/>
                </a:ext>
              </a:extLst>
            </p:cNvPr>
            <p:cNvGrpSpPr/>
            <p:nvPr/>
          </p:nvGrpSpPr>
          <p:grpSpPr>
            <a:xfrm flipH="1">
              <a:off x="8478982" y="1145092"/>
              <a:ext cx="258975" cy="258975"/>
              <a:chOff x="8478982" y="1145092"/>
              <a:chExt cx="258975" cy="258975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A345A0DD-28B4-DA14-4B19-AEEA41C7F111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2BDCF8B0-5B48-34A3-F40A-74AD77BCA06F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4F16D60-A9AB-2C2C-5DC8-780C18B28FF7}"/>
                </a:ext>
              </a:extLst>
            </p:cNvPr>
            <p:cNvGrpSpPr/>
            <p:nvPr/>
          </p:nvGrpSpPr>
          <p:grpSpPr>
            <a:xfrm>
              <a:off x="8867602" y="1145091"/>
              <a:ext cx="258975" cy="258975"/>
              <a:chOff x="8478982" y="1145092"/>
              <a:chExt cx="258975" cy="258975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FD81ACB-80EE-E988-6A98-1EE906818C8A}"/>
                  </a:ext>
                </a:extLst>
              </p:cNvPr>
              <p:cNvSpPr/>
              <p:nvPr/>
            </p:nvSpPr>
            <p:spPr>
              <a:xfrm>
                <a:off x="8478982" y="1145092"/>
                <a:ext cx="258975" cy="258975"/>
              </a:xfrm>
              <a:prstGeom prst="ellipse">
                <a:avLst/>
              </a:prstGeom>
              <a:solidFill>
                <a:srgbClr val="3158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7A0F272C-0116-7C3F-F776-C7B9A904CDF2}"/>
                  </a:ext>
                </a:extLst>
              </p:cNvPr>
              <p:cNvSpPr/>
              <p:nvPr/>
            </p:nvSpPr>
            <p:spPr>
              <a:xfrm>
                <a:off x="8568221" y="1215493"/>
                <a:ext cx="103356" cy="118173"/>
              </a:xfrm>
              <a:custGeom>
                <a:avLst/>
                <a:gdLst>
                  <a:gd name="connsiteX0" fmla="*/ 19072 w 241379"/>
                  <a:gd name="connsiteY0" fmla="*/ 1734 h 275983"/>
                  <a:gd name="connsiteX1" fmla="*/ 235058 w 241379"/>
                  <a:gd name="connsiteY1" fmla="*/ 127006 h 275983"/>
                  <a:gd name="connsiteX2" fmla="*/ 235058 w 241379"/>
                  <a:gd name="connsiteY2" fmla="*/ 148978 h 275983"/>
                  <a:gd name="connsiteX3" fmla="*/ 19072 w 241379"/>
                  <a:gd name="connsiteY3" fmla="*/ 274250 h 275983"/>
                  <a:gd name="connsiteX4" fmla="*/ 0 w 241379"/>
                  <a:gd name="connsiteY4" fmla="*/ 263264 h 275983"/>
                  <a:gd name="connsiteX5" fmla="*/ 0 w 241379"/>
                  <a:gd name="connsiteY5" fmla="*/ 12720 h 275983"/>
                  <a:gd name="connsiteX6" fmla="*/ 19072 w 241379"/>
                  <a:gd name="connsiteY6" fmla="*/ 1734 h 275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79" h="275983">
                    <a:moveTo>
                      <a:pt x="19072" y="1734"/>
                    </a:moveTo>
                    <a:lnTo>
                      <a:pt x="235058" y="127006"/>
                    </a:lnTo>
                    <a:cubicBezTo>
                      <a:pt x="243487" y="131895"/>
                      <a:pt x="243487" y="144089"/>
                      <a:pt x="235058" y="148978"/>
                    </a:cubicBezTo>
                    <a:lnTo>
                      <a:pt x="19072" y="274250"/>
                    </a:lnTo>
                    <a:cubicBezTo>
                      <a:pt x="10604" y="279162"/>
                      <a:pt x="0" y="273054"/>
                      <a:pt x="0" y="263264"/>
                    </a:cubicBezTo>
                    <a:lnTo>
                      <a:pt x="0" y="12720"/>
                    </a:lnTo>
                    <a:cubicBezTo>
                      <a:pt x="0" y="2930"/>
                      <a:pt x="10604" y="-3178"/>
                      <a:pt x="19072" y="173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295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5DA3C14-4630-9B9C-C537-14FFEFC53881}"/>
              </a:ext>
            </a:extLst>
          </p:cNvPr>
          <p:cNvSpPr/>
          <p:nvPr/>
        </p:nvSpPr>
        <p:spPr>
          <a:xfrm>
            <a:off x="316642" y="895021"/>
            <a:ext cx="11539430" cy="1918474"/>
          </a:xfrm>
          <a:prstGeom prst="rect">
            <a:avLst/>
          </a:prstGeom>
          <a:noFill/>
          <a:ln w="15875">
            <a:solidFill>
              <a:srgbClr val="3158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349E22-7F61-0FBE-903D-20D8A301365C}"/>
              </a:ext>
            </a:extLst>
          </p:cNvPr>
          <p:cNvSpPr txBox="1"/>
          <p:nvPr/>
        </p:nvSpPr>
        <p:spPr>
          <a:xfrm>
            <a:off x="316642" y="850285"/>
            <a:ext cx="11389602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31589D"/>
                </a:solidFill>
              </a:rPr>
              <a:t>Platform Strategy (Risk vs. Reward)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31589D"/>
                </a:solidFill>
              </a:rPr>
              <a:t>As shown in the Boxplot (Section 3.1), while average revenues are competitive across platforms, the income distribution varies. Major platforms (like Twitch) show a higher "ceiling" for top earners, but also significant disparity.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D14B82-9F69-0F07-A3F5-F1CF7B80E2AD}"/>
              </a:ext>
            </a:extLst>
          </p:cNvPr>
          <p:cNvSpPr/>
          <p:nvPr/>
        </p:nvSpPr>
        <p:spPr>
          <a:xfrm>
            <a:off x="316641" y="2895186"/>
            <a:ext cx="11539430" cy="1563608"/>
          </a:xfrm>
          <a:prstGeom prst="rect">
            <a:avLst/>
          </a:prstGeom>
          <a:noFill/>
          <a:ln w="15875">
            <a:solidFill>
              <a:srgbClr val="8F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3B9BB1-4DD5-9EC4-68C2-8D2BE6EE502D}"/>
              </a:ext>
            </a:extLst>
          </p:cNvPr>
          <p:cNvSpPr/>
          <p:nvPr/>
        </p:nvSpPr>
        <p:spPr>
          <a:xfrm>
            <a:off x="316642" y="4504739"/>
            <a:ext cx="11521994" cy="2233606"/>
          </a:xfrm>
          <a:prstGeom prst="rect">
            <a:avLst/>
          </a:prstGeom>
          <a:noFill/>
          <a:ln w="15875">
            <a:solidFill>
              <a:srgbClr val="0037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斜纹 23">
            <a:extLst>
              <a:ext uri="{FF2B5EF4-FFF2-40B4-BE49-F238E27FC236}">
                <a16:creationId xmlns:a16="http://schemas.microsoft.com/office/drawing/2014/main" id="{B95B524E-9859-350F-CCE8-9CBFD8223564}"/>
              </a:ext>
            </a:extLst>
          </p:cNvPr>
          <p:cNvSpPr/>
          <p:nvPr/>
        </p:nvSpPr>
        <p:spPr>
          <a:xfrm rot="5400000">
            <a:off x="11396691" y="903374"/>
            <a:ext cx="459380" cy="459380"/>
          </a:xfrm>
          <a:prstGeom prst="diagStripe">
            <a:avLst>
              <a:gd name="adj" fmla="val 71253"/>
            </a:avLst>
          </a:prstGeom>
          <a:solidFill>
            <a:srgbClr val="3158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斜纹 24">
            <a:extLst>
              <a:ext uri="{FF2B5EF4-FFF2-40B4-BE49-F238E27FC236}">
                <a16:creationId xmlns:a16="http://schemas.microsoft.com/office/drawing/2014/main" id="{08F82700-30F5-5A66-3C6C-54F59400E167}"/>
              </a:ext>
            </a:extLst>
          </p:cNvPr>
          <p:cNvSpPr/>
          <p:nvPr/>
        </p:nvSpPr>
        <p:spPr>
          <a:xfrm rot="5400000">
            <a:off x="11415979" y="2907971"/>
            <a:ext cx="459380" cy="459380"/>
          </a:xfrm>
          <a:prstGeom prst="diagStripe">
            <a:avLst>
              <a:gd name="adj" fmla="val 71253"/>
            </a:avLst>
          </a:prstGeom>
          <a:solidFill>
            <a:srgbClr val="8F11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5" name="斜纹 84">
            <a:extLst>
              <a:ext uri="{FF2B5EF4-FFF2-40B4-BE49-F238E27FC236}">
                <a16:creationId xmlns:a16="http://schemas.microsoft.com/office/drawing/2014/main" id="{766D5CFC-DD43-953C-2DC6-B4DBD3357526}"/>
              </a:ext>
            </a:extLst>
          </p:cNvPr>
          <p:cNvSpPr/>
          <p:nvPr/>
        </p:nvSpPr>
        <p:spPr>
          <a:xfrm rot="5400000">
            <a:off x="11372894" y="4510035"/>
            <a:ext cx="459380" cy="459380"/>
          </a:xfrm>
          <a:prstGeom prst="diagStripe">
            <a:avLst>
              <a:gd name="adj" fmla="val 71253"/>
            </a:avLst>
          </a:prstGeom>
          <a:solidFill>
            <a:srgbClr val="003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BA33AD-437F-470E-A441-444C102AEE0E}"/>
              </a:ext>
            </a:extLst>
          </p:cNvPr>
          <p:cNvSpPr txBox="1"/>
          <p:nvPr/>
        </p:nvSpPr>
        <p:spPr>
          <a:xfrm>
            <a:off x="485756" y="119655"/>
            <a:ext cx="5610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4.1 Key Findings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EDD1F2-D95E-798F-6D82-F8DC0F40A40A}"/>
              </a:ext>
            </a:extLst>
          </p:cNvPr>
          <p:cNvSpPr txBox="1"/>
          <p:nvPr/>
        </p:nvSpPr>
        <p:spPr>
          <a:xfrm>
            <a:off x="335360" y="2885617"/>
            <a:ext cx="11838635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C00000"/>
                </a:solidFill>
              </a:rPr>
              <a:t>Content Strategy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Categories such as Just Chatting and specific competitive games consistently attract the highest Average Viewers (Section 3.2). These are the "high-traffic" zones for new streamers.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959E78-116F-42EA-7EBA-5FC9C1E216BA}"/>
              </a:ext>
            </a:extLst>
          </p:cNvPr>
          <p:cNvSpPr txBox="1"/>
          <p:nvPr/>
        </p:nvSpPr>
        <p:spPr>
          <a:xfrm>
            <a:off x="316641" y="4504739"/>
            <a:ext cx="11875359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31589D"/>
                </a:solidFill>
              </a:rPr>
              <a:t>The Formula for Success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31589D"/>
                </a:solidFill>
              </a:rPr>
              <a:t>The most critical finding comes from the Scatter Plot (Section 3.3): There is a strong positive correlation between Monthly Subscribers and Revenue.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31589D"/>
                </a:solidFill>
              </a:rPr>
              <a:t>Conversely, the Heatmap (Section 3.4) reveals a weak correlation between Stream Duration and Revenue.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647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1AD7CB30-E251-8EDB-AC98-C3275C0A5D4C}"/>
              </a:ext>
            </a:extLst>
          </p:cNvPr>
          <p:cNvSpPr txBox="1"/>
          <p:nvPr/>
        </p:nvSpPr>
        <p:spPr>
          <a:xfrm>
            <a:off x="485756" y="119655"/>
            <a:ext cx="11213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4.2 Strategic Recommendations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3D4ECDA7-BA96-0BE4-A9CB-B386E32B5D41}"/>
              </a:ext>
            </a:extLst>
          </p:cNvPr>
          <p:cNvSpPr/>
          <p:nvPr/>
        </p:nvSpPr>
        <p:spPr>
          <a:xfrm>
            <a:off x="1765564" y="779929"/>
            <a:ext cx="179862" cy="5931547"/>
          </a:xfrm>
          <a:prstGeom prst="downArrow">
            <a:avLst>
              <a:gd name="adj1" fmla="val 37179"/>
              <a:gd name="adj2" fmla="val 91275"/>
            </a:avLst>
          </a:prstGeom>
          <a:gradFill flip="none" rotWithShape="1">
            <a:gsLst>
              <a:gs pos="0">
                <a:srgbClr val="31589D"/>
              </a:gs>
              <a:gs pos="97000">
                <a:srgbClr val="00377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135E5B-F475-552B-F04B-6EA049346C76}"/>
              </a:ext>
            </a:extLst>
          </p:cNvPr>
          <p:cNvSpPr txBox="1"/>
          <p:nvPr/>
        </p:nvSpPr>
        <p:spPr>
          <a:xfrm>
            <a:off x="1986879" y="716316"/>
            <a:ext cx="9444880" cy="536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en-US" altLang="zh-CN" sz="2400" dirty="0">
                <a:cs typeface="+mn-ea"/>
                <a:sym typeface="+mn-lt"/>
              </a:rPr>
              <a:t>For a new streamer or investor entering the market in 2025:</a:t>
            </a:r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E84F64-5C62-5459-29D5-355ECD60FEC4}"/>
              </a:ext>
            </a:extLst>
          </p:cNvPr>
          <p:cNvSpPr txBox="1"/>
          <p:nvPr/>
        </p:nvSpPr>
        <p:spPr>
          <a:xfrm>
            <a:off x="2099851" y="1540283"/>
            <a:ext cx="9072871" cy="129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en-US" altLang="zh-CN" sz="2000" b="1" dirty="0">
                <a:solidFill>
                  <a:srgbClr val="31589D"/>
                </a:solidFill>
                <a:cs typeface="+mn-ea"/>
                <a:sym typeface="+mn-lt"/>
              </a:rPr>
              <a:t>Don't "Grind" Blindly: </a:t>
            </a:r>
          </a:p>
          <a:p>
            <a:pPr algn="just">
              <a:lnSpc>
                <a:spcPct val="135000"/>
              </a:lnSpc>
            </a:pPr>
            <a:r>
              <a:rPr lang="en-US" altLang="zh-CN" sz="2000" dirty="0">
                <a:cs typeface="+mn-ea"/>
                <a:sym typeface="+mn-lt"/>
              </a:rPr>
              <a:t>Simply increasing streaming hours (e.g., streaming 10+ hours a day) yields diminishing returns. The data proves that time does not equal money.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4774FF-EFD5-4943-ACA5-40C785A1181D}"/>
              </a:ext>
            </a:extLst>
          </p:cNvPr>
          <p:cNvSpPr txBox="1"/>
          <p:nvPr/>
        </p:nvSpPr>
        <p:spPr>
          <a:xfrm>
            <a:off x="2123728" y="3363696"/>
            <a:ext cx="9048994" cy="170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en-US" altLang="zh-CN" sz="2000" b="1" dirty="0">
                <a:solidFill>
                  <a:srgbClr val="31589D"/>
                </a:solidFill>
                <a:cs typeface="+mn-ea"/>
                <a:sym typeface="+mn-lt"/>
              </a:rPr>
              <a:t>Focus on Community Building: </a:t>
            </a:r>
          </a:p>
          <a:p>
            <a:pPr algn="just">
              <a:lnSpc>
                <a:spcPct val="135000"/>
              </a:lnSpc>
            </a:pPr>
            <a:r>
              <a:rPr lang="en-US" altLang="zh-CN" sz="2000" dirty="0">
                <a:cs typeface="+mn-ea"/>
                <a:sym typeface="+mn-lt"/>
              </a:rPr>
              <a:t>The primary business goal should be converting viewers into Subscribers. Revenue is driven by the loyalty of the fan base, not the length of the broadcast.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6951620-3477-6727-A93C-779B6C544E45}"/>
              </a:ext>
            </a:extLst>
          </p:cNvPr>
          <p:cNvSpPr/>
          <p:nvPr/>
        </p:nvSpPr>
        <p:spPr>
          <a:xfrm>
            <a:off x="1723713" y="1800805"/>
            <a:ext cx="267885" cy="267885"/>
          </a:xfrm>
          <a:prstGeom prst="ellipse">
            <a:avLst/>
          </a:prstGeom>
          <a:solidFill>
            <a:schemeClr val="bg1"/>
          </a:solidFill>
          <a:ln>
            <a:solidFill>
              <a:srgbClr val="3158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43ACF8D-B2C4-99C6-F3EE-5EEA15DC08D7}"/>
              </a:ext>
            </a:extLst>
          </p:cNvPr>
          <p:cNvSpPr/>
          <p:nvPr/>
        </p:nvSpPr>
        <p:spPr>
          <a:xfrm>
            <a:off x="1777821" y="1854913"/>
            <a:ext cx="159667" cy="159667"/>
          </a:xfrm>
          <a:prstGeom prst="ellipse">
            <a:avLst/>
          </a:prstGeom>
          <a:solidFill>
            <a:srgbClr val="3158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4CB6D5C-C643-1558-8626-3525B545112A}"/>
              </a:ext>
            </a:extLst>
          </p:cNvPr>
          <p:cNvSpPr/>
          <p:nvPr/>
        </p:nvSpPr>
        <p:spPr>
          <a:xfrm>
            <a:off x="1721554" y="788644"/>
            <a:ext cx="267885" cy="267885"/>
          </a:xfrm>
          <a:prstGeom prst="ellipse">
            <a:avLst/>
          </a:prstGeom>
          <a:solidFill>
            <a:schemeClr val="bg1"/>
          </a:solidFill>
          <a:ln>
            <a:solidFill>
              <a:srgbClr val="3158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3D0B56C-5851-FC20-6CB0-9EE4064E393A}"/>
              </a:ext>
            </a:extLst>
          </p:cNvPr>
          <p:cNvSpPr/>
          <p:nvPr/>
        </p:nvSpPr>
        <p:spPr>
          <a:xfrm>
            <a:off x="1775662" y="842752"/>
            <a:ext cx="159667" cy="159667"/>
          </a:xfrm>
          <a:prstGeom prst="ellipse">
            <a:avLst/>
          </a:prstGeom>
          <a:solidFill>
            <a:srgbClr val="3158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49354411-A889-F8D0-2250-5B6CAA65E283}"/>
              </a:ext>
            </a:extLst>
          </p:cNvPr>
          <p:cNvSpPr/>
          <p:nvPr/>
        </p:nvSpPr>
        <p:spPr>
          <a:xfrm>
            <a:off x="1721554" y="3872797"/>
            <a:ext cx="267885" cy="267885"/>
          </a:xfrm>
          <a:prstGeom prst="ellipse">
            <a:avLst/>
          </a:prstGeom>
          <a:solidFill>
            <a:schemeClr val="bg1"/>
          </a:solidFill>
          <a:ln>
            <a:solidFill>
              <a:srgbClr val="3158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9A0B1F4E-CD8C-D82E-CEE7-55D41BF041AD}"/>
              </a:ext>
            </a:extLst>
          </p:cNvPr>
          <p:cNvSpPr/>
          <p:nvPr/>
        </p:nvSpPr>
        <p:spPr>
          <a:xfrm>
            <a:off x="1775662" y="3926905"/>
            <a:ext cx="159667" cy="159667"/>
          </a:xfrm>
          <a:prstGeom prst="ellipse">
            <a:avLst/>
          </a:prstGeom>
          <a:solidFill>
            <a:srgbClr val="3158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457485-57CD-4AA5-034F-2AD20D6EEFF5}"/>
              </a:ext>
            </a:extLst>
          </p:cNvPr>
          <p:cNvSpPr txBox="1"/>
          <p:nvPr/>
        </p:nvSpPr>
        <p:spPr>
          <a:xfrm>
            <a:off x="2133411" y="5149053"/>
            <a:ext cx="9039311" cy="129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en-US" altLang="zh-CN" sz="2000" b="1" dirty="0">
                <a:solidFill>
                  <a:srgbClr val="31589D"/>
                </a:solidFill>
                <a:cs typeface="+mn-ea"/>
                <a:sym typeface="+mn-lt"/>
              </a:rPr>
              <a:t>Start Smart: </a:t>
            </a:r>
          </a:p>
          <a:p>
            <a:pPr algn="just">
              <a:lnSpc>
                <a:spcPct val="135000"/>
              </a:lnSpc>
            </a:pPr>
            <a:r>
              <a:rPr lang="en-US" altLang="zh-CN" sz="2000" dirty="0">
                <a:cs typeface="+mn-ea"/>
                <a:sym typeface="+mn-lt"/>
              </a:rPr>
              <a:t>Launch with high-interest content categories to maximize initial visibility, then focus on viewer retention strategies.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1A20DAB-5B59-3A91-E103-90B0F733B027}"/>
              </a:ext>
            </a:extLst>
          </p:cNvPr>
          <p:cNvSpPr/>
          <p:nvPr/>
        </p:nvSpPr>
        <p:spPr>
          <a:xfrm>
            <a:off x="1718994" y="5824753"/>
            <a:ext cx="267885" cy="267885"/>
          </a:xfrm>
          <a:prstGeom prst="ellipse">
            <a:avLst/>
          </a:prstGeom>
          <a:solidFill>
            <a:schemeClr val="bg1"/>
          </a:solidFill>
          <a:ln>
            <a:solidFill>
              <a:srgbClr val="3158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2035800-CA11-3136-A0F3-9D73740F33B5}"/>
              </a:ext>
            </a:extLst>
          </p:cNvPr>
          <p:cNvSpPr/>
          <p:nvPr/>
        </p:nvSpPr>
        <p:spPr>
          <a:xfrm>
            <a:off x="1773102" y="5878861"/>
            <a:ext cx="159667" cy="159667"/>
          </a:xfrm>
          <a:prstGeom prst="ellipse">
            <a:avLst/>
          </a:prstGeom>
          <a:solidFill>
            <a:srgbClr val="3158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4EC0B03-E4C6-3B78-3A27-6214F5085855}"/>
              </a:ext>
            </a:extLst>
          </p:cNvPr>
          <p:cNvCxnSpPr>
            <a:cxnSpLocks/>
          </p:cNvCxnSpPr>
          <p:nvPr/>
        </p:nvCxnSpPr>
        <p:spPr>
          <a:xfrm flipV="1">
            <a:off x="195739" y="5150985"/>
            <a:ext cx="11793217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EE55FF6-30FB-89FF-4695-E91C19F03749}"/>
              </a:ext>
            </a:extLst>
          </p:cNvPr>
          <p:cNvCxnSpPr>
            <a:cxnSpLocks/>
          </p:cNvCxnSpPr>
          <p:nvPr/>
        </p:nvCxnSpPr>
        <p:spPr>
          <a:xfrm flipV="1">
            <a:off x="195738" y="3270202"/>
            <a:ext cx="11793217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12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967B-0D1A-C7E2-97A9-0C348B2F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8E99783-3CE9-252B-3BC4-EF830E96B52F}"/>
              </a:ext>
            </a:extLst>
          </p:cNvPr>
          <p:cNvSpPr/>
          <p:nvPr/>
        </p:nvSpPr>
        <p:spPr>
          <a:xfrm>
            <a:off x="320023" y="1042713"/>
            <a:ext cx="5426698" cy="5022736"/>
          </a:xfrm>
          <a:prstGeom prst="rect">
            <a:avLst/>
          </a:prstGeom>
          <a:solidFill>
            <a:schemeClr val="lt1">
              <a:alpha val="95000"/>
            </a:schemeClr>
          </a:solidFill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  <a:round/>
          </a:ln>
          <a:effectLst>
            <a:outerShdw blurRad="50800" dist="38100" dir="2700000" algn="tl" rotWithShape="0">
              <a:prstClr val="black">
                <a:alpha val="49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 extrusionH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AC5756B-73E4-C300-6126-CAF1E33C4D7B}"/>
              </a:ext>
            </a:extLst>
          </p:cNvPr>
          <p:cNvSpPr txBox="1"/>
          <p:nvPr/>
        </p:nvSpPr>
        <p:spPr>
          <a:xfrm>
            <a:off x="320022" y="131669"/>
            <a:ext cx="8584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200" b="1" spc="300" dirty="0">
                <a:solidFill>
                  <a:srgbClr val="31589D"/>
                </a:solidFill>
                <a:cs typeface="+mn-ea"/>
                <a:sym typeface="+mn-lt"/>
              </a:rPr>
              <a:t>4.3 Limitations (Critical Reflection)</a:t>
            </a:r>
            <a:endParaRPr lang="zh-CN" altLang="en-US" sz="3200" b="1" spc="300" dirty="0">
              <a:solidFill>
                <a:srgbClr val="31589D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BA74A6-3296-A575-681A-9F979B54B02A}"/>
              </a:ext>
            </a:extLst>
          </p:cNvPr>
          <p:cNvSpPr txBox="1"/>
          <p:nvPr/>
        </p:nvSpPr>
        <p:spPr>
          <a:xfrm>
            <a:off x="1475232" y="792551"/>
            <a:ext cx="9241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31589D"/>
              </a:solidFill>
              <a:effectLst/>
              <a:uLnTx/>
              <a:uFillTx/>
              <a:latin typeface="Arial" panose="020F0302020204030204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E4D4F8-90FD-7BF4-AC24-89825B16A004}"/>
              </a:ext>
            </a:extLst>
          </p:cNvPr>
          <p:cNvSpPr txBox="1"/>
          <p:nvPr/>
        </p:nvSpPr>
        <p:spPr>
          <a:xfrm>
            <a:off x="670905" y="1245769"/>
            <a:ext cx="50405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To ensure academic honesty and professional transparency, we acknowledge: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spc="300" dirty="0">
              <a:solidFill>
                <a:srgbClr val="31589D"/>
              </a:solidFill>
              <a:cs typeface="+mn-ea"/>
              <a:sym typeface="+mn-lt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Data Scope: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spc="300" dirty="0">
                <a:cs typeface="+mn-ea"/>
                <a:sym typeface="+mn-lt"/>
              </a:rPr>
              <a:t>The analysis is limited to the year 2025; long-term trends (2020-2024) are not accounted for.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spc="300" dirty="0">
                <a:solidFill>
                  <a:srgbClr val="31589D"/>
                </a:solidFill>
                <a:cs typeface="+mn-ea"/>
                <a:sym typeface="+mn-lt"/>
              </a:rPr>
              <a:t>Missing Variables: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spc="300" dirty="0">
                <a:cs typeface="+mn-ea"/>
                <a:sym typeface="+mn-lt"/>
              </a:rPr>
              <a:t>We lack data on External Social Media Influence (e.g., TikTok/Twitter followers), which is likely a hidden variable driving the subscriber count.</a:t>
            </a:r>
          </a:p>
        </p:txBody>
      </p:sp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8AA9BDB-917F-DBCA-4969-7FF967658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76" y="1113590"/>
            <a:ext cx="5925832" cy="49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7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:a16="http://schemas.microsoft.com/office/drawing/2014/main" id="{E3E0D877-2D63-65C7-1DA2-F6442C93E2F9}"/>
              </a:ext>
            </a:extLst>
          </p:cNvPr>
          <p:cNvGrpSpPr/>
          <p:nvPr/>
        </p:nvGrpSpPr>
        <p:grpSpPr>
          <a:xfrm flipH="1">
            <a:off x="11375967" y="5998463"/>
            <a:ext cx="275432" cy="199853"/>
            <a:chOff x="400050" y="466218"/>
            <a:chExt cx="956310" cy="411892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E898903-2517-D9B7-6926-E5398FEAB9BF}"/>
                </a:ext>
              </a:extLst>
            </p:cNvPr>
            <p:cNvCxnSpPr/>
            <p:nvPr/>
          </p:nvCxnSpPr>
          <p:spPr>
            <a:xfrm>
              <a:off x="411480" y="466218"/>
              <a:ext cx="94488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9F7BFB82-076F-4ADD-0A7A-7D0898EF810D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4" y="672164"/>
              <a:ext cx="701760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D5256BF-0529-EAF7-6139-E4BFF43ACD39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" y="878110"/>
              <a:ext cx="444001" cy="0"/>
            </a:xfrm>
            <a:prstGeom prst="line">
              <a:avLst/>
            </a:prstGeom>
            <a:ln w="34925" cap="rnd">
              <a:solidFill>
                <a:srgbClr val="31589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6E06A93-DF05-40C8-AEFA-C37F8EEF3D44}"/>
              </a:ext>
            </a:extLst>
          </p:cNvPr>
          <p:cNvSpPr txBox="1"/>
          <p:nvPr/>
        </p:nvSpPr>
        <p:spPr>
          <a:xfrm>
            <a:off x="830503" y="2123902"/>
            <a:ext cx="105309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effectLst>
                  <a:outerShdw blurRad="12700" dist="12700" dir="2700000" algn="tl">
                    <a:srgbClr val="000000">
                      <a:alpha val="79000"/>
                    </a:srgbClr>
                  </a:outerShdw>
                </a:effectLst>
                <a:cs typeface="+mn-ea"/>
                <a:sym typeface="+mn-lt"/>
              </a:rPr>
              <a:t>Thanks for listening</a:t>
            </a:r>
            <a:endParaRPr lang="zh-CN" altLang="en-US" sz="6000" b="1" dirty="0">
              <a:solidFill>
                <a:schemeClr val="bg1"/>
              </a:solidFill>
              <a:effectLst>
                <a:outerShdw blurRad="12700" dist="12700" dir="2700000" algn="tl">
                  <a:srgbClr val="000000">
                    <a:alpha val="79000"/>
                  </a:srgbClr>
                </a:outerShdw>
              </a:effectLst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733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8076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ylv0dwk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Microsoft Office PowerPoint</Application>
  <PresentationFormat>宽屏</PresentationFormat>
  <Paragraphs>148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汉仪旗黑-55简</vt:lpstr>
      <vt:lpstr>Arial</vt:lpstr>
      <vt:lpstr>Consolas</vt:lpstr>
      <vt:lpstr>Segoe UI Black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2025-09-24T02:40:41Z</dcterms:created>
  <dcterms:modified xsi:type="dcterms:W3CDTF">2026-03-11T05:02:44Z</dcterms:modified>
</cp:coreProperties>
</file>